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Liberation Sans"/>
              </a:defRPr>
            </a:pPr>
            <a:r>
              <a:t>Travel Evidence Pack</a:t>
            </a:r>
          </a:p>
          <a:p>
            <a:pPr>
              <a:defRPr sz="2500" b="1">
                <a:solidFill>
                  <a:srgbClr val="FFFFFF"/>
                </a:solidFill>
                <a:latin typeface="Liberation Sans"/>
              </a:defRPr>
            </a:pPr>
            <a:r>
              <a:t>USDA Rural Development - training site analysis</a:t>
            </a:r>
          </a:p>
          <a:p>
            <a:pPr>
              <a:defRPr sz="2500" b="1">
                <a:solidFill>
                  <a:srgbClr val="FFFFFF"/>
                </a:solidFill>
                <a:latin typeface="Liberation Sans"/>
              </a:defRPr>
            </a:pPr>
            <a:r>
              <a:t>Existing real captures, reviewed and corrected</a:t>
            </a:r>
          </a:p>
          <a:p>
            <a:pPr>
              <a:defRPr sz="2500" b="1">
                <a:solidFill>
                  <a:srgbClr val="FFFFFF"/>
                </a:solidFill>
                <a:latin typeface="Liberation Sans"/>
              </a:defRPr>
            </a:pPr>
            <a:r>
              <a:t>Training Nov 29-Dec 1, 2026 | travel Nov 28-Dec 2 | 18 / 24 people</a:t>
            </a:r>
          </a:p>
          <a:p>
            <a:pPr>
              <a:defRPr sz="2500" b="1">
                <a:solidFill>
                  <a:srgbClr val="FFFFFF"/>
                </a:solidFill>
                <a:latin typeface="Liberation Sans"/>
              </a:defRPr>
            </a:pPr>
            <a:r>
              <a:t>No fully quality-admitted recommendation yet. Boston 24 is a cost-priority completion candidate, not an approved booking.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>
              <a:defRPr sz="1600" b="1">
                <a:solidFill>
                  <a:srgbClr val="FFFFFF"/>
                </a:solidFill>
                <a:latin typeface="Liberation Sans"/>
              </a:defRPr>
            </a:pPr>
            <a:r>
              <a:t>Evidence status and use - read before relying on prices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3041"/>
                </a:solidFill>
                <a:latin typeface="Liberation Sans"/>
              </a:defRPr>
            </a:pPr>
            <a:r>
              <a:t>Flights: archived Google Flights captures, one passenger, round trip, economy incl. Basic, USD. Booking is unavailable from the capture region; authorized purchasing channel and group seats remain unverified.</a:t>
            </a:r>
          </a:p>
          <a:p>
            <a:pPr>
              <a:defRPr sz="1600" b="0">
                <a:solidFill>
                  <a:srgbClr val="233041"/>
                </a:solidFill>
                <a:latin typeface="Liberation Sans"/>
              </a:defRPr>
            </a:pPr>
            <a:r>
              <a:t>Hotels: archived Trip.com and Google Hotels captures. A displayed 2-guest offer is not proof of a one-adult price; room type, breakfast and cancellation are provider-specific.</a:t>
            </a:r>
          </a:p>
          <a:p>
            <a:pPr>
              <a:defRPr sz="1600" b="0">
                <a:solidFill>
                  <a:srgbClr val="233041"/>
                </a:solidFill>
                <a:latin typeface="Liberation Sans"/>
              </a:defRPr>
            </a:pPr>
            <a:r>
              <a:t>Quality: platform-specific score screens plus sufficient reviews are only preliminary. Recent cleanliness, night-noise and maintenance evidence is required; a missing review is not a clean bill of health.</a:t>
            </a:r>
          </a:p>
          <a:p>
            <a:pPr>
              <a:defRPr sz="1600" b="0">
                <a:solidFill>
                  <a:srgbClr val="233041"/>
                </a:solidFill>
                <a:latin typeface="Liberation Sans"/>
              </a:defRPr>
            </a:pPr>
            <a:r>
              <a:t>All quoted fares/rooms are snapshots, not reservations or held inventory. Venue, catering, procurement, funds and actual individual transport remain conditional.</a:t>
            </a:r>
          </a:p>
          <a:p>
            <a:pPr>
              <a:defRPr sz="1600" b="0">
                <a:solidFill>
                  <a:srgbClr val="233041"/>
                </a:solidFill>
                <a:latin typeface="Liberation Sans"/>
              </a:defRPr>
            </a:pPr>
            <a:r>
              <a:t>The workbook distinguishes known/estimated costs from separate unquoted base-cost parameters. Do not treat those missing costs as free.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>
              <a:defRPr sz="2100" b="1">
                <a:solidFill>
                  <a:srgbClr val="FFFFFF"/>
                </a:solidFill>
                <a:latin typeface="Liberation Sans"/>
              </a:defRPr>
            </a:pPr>
            <a:r>
              <a:t>Boston - costed candidate; QUALITY PENDING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Flight - Google Flights</a:t>
            </a:r>
          </a:p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DCA-BOS | Delta | $311.00 round trip</a:t>
            </a:r>
          </a:p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11/28 06:00-07:38; 12/2 14:29-16:20 (local times)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91440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Hotel - $108.00/room/night indicative</a:t>
            </a:r>
          </a:p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Trip.com 8.6/10 | 449 reviews; applicability and quality PENDING.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3550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Original captures 2026-10-24 UTC. Budget: conference_budget.xlsx CityData / Options / Sources. No booking or group stock confirmed.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200631" y="1554480"/>
            <a:ext cx="3795296" cy="4480558"/>
          </a:xfrm>
          <a:prstGeom prst="rect">
            <a:avLst/>
          </a:prstGeom>
        </p:spPr>
      </p:pic>
      <p:pic>
        <p:nvPicPr>
          <p:cNvPr id="9" name="Picture 8" descr="image4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30467" y="2609363"/>
            <a:ext cx="3448426" cy="23707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>
              <a:defRPr sz="2100" b="1">
                <a:solidFill>
                  <a:srgbClr val="FFFFFF"/>
                </a:solidFill>
                <a:latin typeface="Liberation Sans"/>
              </a:defRPr>
            </a:pPr>
            <a:r>
              <a:t>Chicago - corrected breakfast offer EXCLUDED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Flight - Google Flights</a:t>
            </a:r>
          </a:p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DCA-ORD | American | $270.00 round trip</a:t>
            </a:r>
          </a:p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11/28 06:00-07:32; 12/2 16:59-19:59 (local times)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91440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Hotel - Agoda $158/night with free breakfast</a:t>
            </a:r>
          </a:p>
          <a:p>
            <a:pPr>
              <a:defRPr sz="1200">
                <a:latin typeface="Liberation Sans"/>
              </a:defRPr>
            </a:pPr>
            <a:r>
              <a:t>Booking suite $159 with breakfast: both exceed Dec $148 cap.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3550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Original captures 2026-10-24 UTC. Budget: conference_budget.xlsx CityData / Options / Sources. No booking or group stock confirmed.</a:t>
            </a:r>
          </a:p>
        </p:txBody>
      </p:sp>
      <p:pic>
        <p:nvPicPr>
          <p:cNvPr id="8" name="Picture 7" descr="image11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200631" y="2371523"/>
            <a:ext cx="3795296" cy="2846472"/>
          </a:xfrm>
          <a:prstGeom prst="rect">
            <a:avLst/>
          </a:prstGeom>
        </p:spPr>
      </p:pic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430467" y="2609363"/>
            <a:ext cx="3448426" cy="2370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>
              <a:defRPr sz="2100" b="1">
                <a:solidFill>
                  <a:srgbClr val="FFFFFF"/>
                </a:solidFill>
                <a:latin typeface="Liberation Sans"/>
              </a:defRPr>
            </a:pPr>
            <a:r>
              <a:t>Denver - costed candidate; QUALITY PENDING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Flight - Google Flights</a:t>
            </a:r>
          </a:p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IAD-DEN | United | $578.00 round trip</a:t>
            </a:r>
          </a:p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11/28 06:10-08:19; 12/2 14:10-17:30 (local times)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91440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Hotel - $109.00/room/night indicative</a:t>
            </a:r>
          </a:p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Trip.com 9.0/10 | 94 reviews; applicability and quality PENDING.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3550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Original captures 2026-10-24 UTC. Budget: conference_budget.xlsx CityData / Options / Sources. No booking or group stock confirmed.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200631" y="1554480"/>
            <a:ext cx="3795296" cy="4480558"/>
          </a:xfrm>
          <a:prstGeom prst="rect">
            <a:avLst/>
          </a:prstGeom>
        </p:spPr>
      </p:pic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383124" y="2576815"/>
            <a:ext cx="3543111" cy="2435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>
              <a:defRPr sz="2100" b="1">
                <a:solidFill>
                  <a:srgbClr val="FFFFFF"/>
                </a:solidFill>
                <a:latin typeface="Liberation Sans"/>
              </a:defRPr>
            </a:pPr>
            <a:r>
              <a:t>Phoenix - costed candidate; QUALITY PENDING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Flight - Google Flights</a:t>
            </a:r>
          </a:p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IAD-PHX | United | $499.00 round trip</a:t>
            </a:r>
          </a:p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11/28 08:20-11:33; 12/2 14:54-19:09 (local times)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91440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Hotel - $150.00/room/night indicative</a:t>
            </a:r>
          </a:p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Trip.com 9.4/10 | 116 reviews; applicability and quality PENDING.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3550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Original captures 2026-10-24 UTC. Budget: conference_budget.xlsx CityData / Options / Sources. No booking or group stock confirmed.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200631" y="1554480"/>
            <a:ext cx="3795296" cy="4480558"/>
          </a:xfrm>
          <a:prstGeom prst="rect">
            <a:avLst/>
          </a:prstGeom>
        </p:spPr>
      </p:pic>
      <p:pic>
        <p:nvPicPr>
          <p:cNvPr id="9" name="Picture 8" descr="image3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73593" y="2639013"/>
            <a:ext cx="3362171" cy="23114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>
              <a:defRPr sz="2100" b="1">
                <a:solidFill>
                  <a:srgbClr val="FFFFFF"/>
                </a:solidFill>
                <a:latin typeface="Liberation Sans"/>
              </a:defRPr>
            </a:pPr>
            <a:r>
              <a:t>Seattle - costed candidate; QUALITY PENDING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Flight - Google Flights</a:t>
            </a:r>
          </a:p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IAD-SEA | United | $590.00 round trip</a:t>
            </a:r>
          </a:p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11/28 17:50-20:56; 12/2 08:09-16:08 (local times)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91440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Hotel - $101.00/room/night indicative</a:t>
            </a:r>
          </a:p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Google 4.3/5 | 2,018 reviews; applicability and quality PENDING.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3550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Original captures 2026-10-24 UTC. Budget: conference_budget.xlsx CityData / Options / Sources. No booking or group stock confirmed.</a:t>
            </a:r>
          </a:p>
        </p:txBody>
      </p:sp>
      <p:pic>
        <p:nvPicPr>
          <p:cNvPr id="8" name="Picture 7" descr="image21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200631" y="2371523"/>
            <a:ext cx="3795296" cy="2846472"/>
          </a:xfrm>
          <a:prstGeom prst="rect">
            <a:avLst/>
          </a:prstGeom>
        </p:spPr>
      </p:pic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473593" y="2639013"/>
            <a:ext cx="3362171" cy="23114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3152"/>
          <a:lstStyle/>
          <a:p>
            <a:pPr algn="ctr">
              <a:defRPr sz="2300" b="1">
                <a:solidFill>
                  <a:srgbClr val="FFFFFF"/>
                </a:solidFill>
                <a:latin typeface="Liberation Sans"/>
              </a:defRPr>
            </a:pPr>
            <a:r>
              <a:t>Decision snapshot and approval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33041"/>
                </a:solidFill>
                <a:latin typeface="Liberation Sans"/>
              </a:defRPr>
            </a:pPr>
            <a:r>
              <a:t>No candidate is represented as fully quality-admitted or approved. Boston 24 is now the cost-priority completion candidate; its breakfast inclusion remains unverified. Chicago $101 is archival only, while breakfast-linked $158/$159 Embassy rates exceed the Dec-1 cap and are excluded. Chicago DoubleTree $133 is a separate pending breakfast-cost alternative, not a confirmed package.</a:t>
            </a:r>
          </a:p>
          <a:p>
            <a:pPr>
              <a:defRPr sz="1600">
                <a:latin typeface="Liberation Sans"/>
              </a:defRPr>
            </a:pPr>
            <a:r>
              <a:t>Traveler net M&amp;IE is inside the $53,000 budget, separately from agency catering. Reserve is 5% of the full base, including unquoted U when known.</a:t>
            </a:r>
          </a:p>
          <a:p>
            <a:pPr>
              <a:defRPr sz="1600">
                <a:latin typeface="Liberation Sans"/>
              </a:defRPr>
            </a:pPr>
            <a:r>
              <a:t>Before approval: match one-adult hotel and breakfast terms, complete topic-specific reviews and inventory, venue/catering quotes, mission/headcount/remote evidence, procurement and funding. Old template thresholds remain subject to policy verification.</a:t>
            </a:r>
          </a:p>
          <a:p>
            <a:pPr>
              <a:defRPr sz="1600">
                <a:latin typeface="Liberation Sans"/>
              </a:defRPr>
            </a:pPr>
            <a:r>
              <a:t>All static documents must be re-exported after parameters change.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11734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3559"/>
                </a:solidFill>
                <a:latin typeface="Liberation Sans"/>
              </a:defRPr>
            </a:pPr>
            <a:r>
              <a:t>Boston | actual selected round-trip flight $311.00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11734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574"/>
                </a:solidFill>
                <a:latin typeface="Liberation Sans"/>
              </a:defRPr>
            </a:pPr>
            <a:r>
              <a:t>Captured 2026-10-24 UTC | travel 2026-11-28 to 2026-12-02 | USD</a:t>
            </a:r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rcRect l="15625" t="6364" r="15625" b="62727"/>
          <a:stretch>
            <a:fillRect/>
          </a:stretch>
        </p:blipFill>
        <p:spPr>
          <a:xfrm>
            <a:off x="1140606" y="1024128"/>
            <a:ext cx="9910482" cy="3063240"/>
          </a:xfrm>
          <a:prstGeom prst="rect">
            <a:avLst/>
          </a:prstGeom>
        </p:spPr>
      </p:pic>
      <p:pic>
        <p:nvPicPr>
          <p:cNvPr id="5" name="Picture 4" descr="image4.png"/>
          <p:cNvPicPr>
            <a:picLocks noChangeAspect="1"/>
          </p:cNvPicPr>
          <p:nvPr/>
        </p:nvPicPr>
        <p:blipFill>
          <a:blip r:embed="rId2"/>
          <a:srcRect l="18750" t="88182" r="15625" b="909"/>
          <a:stretch>
            <a:fillRect/>
          </a:stretch>
        </p:blipFill>
        <p:spPr>
          <a:xfrm>
            <a:off x="3495522" y="4251960"/>
            <a:ext cx="520065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937760"/>
            <a:ext cx="115516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41"/>
                </a:solidFill>
                <a:latin typeface="Liberation Sans"/>
              </a:defRPr>
            </a:pPr>
            <a:r>
              <a:t>Delta; DCA-BOS; Nov 28 06:00-07:38 / Dec 2 14:29-16:20, local times. One passenger; economy incl. Basic. Taxes are in the displayed total; bags, seat choice, refund/change entitlement and government purchasing eligibility require confirmation.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19088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Liberation Sans"/>
              </a:defRPr>
            </a:pPr>
            <a:r>
              <a:t>https://www.google.com/travel/flights?q=Flights%20from%20DCA%20to%20BOS%20on%202026-11-28%20returning%202026-12-02&amp;hl=en&amp;curr=USD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11734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3559"/>
                </a:solidFill>
                <a:latin typeface="Liberation Sans"/>
              </a:defRPr>
            </a:pPr>
            <a:r>
              <a:t>Chicago | actual selected round-trip flight $270.00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11734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574"/>
                </a:solidFill>
                <a:latin typeface="Liberation Sans"/>
              </a:defRPr>
            </a:pPr>
            <a:r>
              <a:t>Captured 2026-10-24 UTC | travel 2026-11-28 to 2026-12-02 | USD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rcRect l="15625" t="6364" r="15625" b="62727"/>
          <a:stretch>
            <a:fillRect/>
          </a:stretch>
        </p:blipFill>
        <p:spPr>
          <a:xfrm>
            <a:off x="1140606" y="1024128"/>
            <a:ext cx="9910482" cy="3063240"/>
          </a:xfrm>
          <a:prstGeom prst="rect">
            <a:avLst/>
          </a:prstGeom>
        </p:spPr>
      </p:pic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rcRect l="18750" t="88182" r="15625" b="909"/>
          <a:stretch>
            <a:fillRect/>
          </a:stretch>
        </p:blipFill>
        <p:spPr>
          <a:xfrm>
            <a:off x="3495522" y="4251960"/>
            <a:ext cx="520065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937760"/>
            <a:ext cx="115516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41"/>
                </a:solidFill>
                <a:latin typeface="Liberation Sans"/>
              </a:defRPr>
            </a:pPr>
            <a:r>
              <a:t>American; DCA-ORD; Nov 28 06:00-07:32 / Dec 2 16:59-19:59, local times. One passenger; economy incl. Basic. Taxes are in the displayed total; bags, seat choice, refund/change entitlement and government purchasing eligibility require confirmation.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19088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Liberation Sans"/>
              </a:defRPr>
            </a:pPr>
            <a:r>
              <a:t>https://www.google.com/travel/flights?q=Flights%20from%20DCA%20to%20ORD%20on%202026-11-28%20returning%202026-12-02&amp;hl=en&amp;curr=USD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11734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3559"/>
                </a:solidFill>
                <a:latin typeface="Liberation Sans"/>
              </a:defRPr>
            </a:pPr>
            <a:r>
              <a:t>Denver | actual selected round-trip flight $578.00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11734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574"/>
                </a:solidFill>
                <a:latin typeface="Liberation Sans"/>
              </a:defRPr>
            </a:pPr>
            <a:r>
              <a:t>Captured 2026-10-24 UTC | travel 2026-11-28 to 2026-12-02 | USD</a:t>
            </a:r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rcRect l="15625" t="6364" r="15625" b="62727"/>
          <a:stretch>
            <a:fillRect/>
          </a:stretch>
        </p:blipFill>
        <p:spPr>
          <a:xfrm>
            <a:off x="1140606" y="1024128"/>
            <a:ext cx="9910482" cy="3063240"/>
          </a:xfrm>
          <a:prstGeom prst="rect">
            <a:avLst/>
          </a:prstGeom>
        </p:spPr>
      </p:pic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rcRect l="18750" t="88182" r="15625" b="909"/>
          <a:stretch>
            <a:fillRect/>
          </a:stretch>
        </p:blipFill>
        <p:spPr>
          <a:xfrm>
            <a:off x="3495522" y="4251960"/>
            <a:ext cx="520065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937760"/>
            <a:ext cx="115516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41"/>
                </a:solidFill>
                <a:latin typeface="Liberation Sans"/>
              </a:defRPr>
            </a:pPr>
            <a:r>
              <a:t>United; IAD-DEN; Nov 28 06:10-08:19 / Dec 2 14:10-17:30, local times. One passenger; economy incl. Basic. Taxes are in the displayed total; bags, seat choice, refund/change entitlement and government purchasing eligibility require confirmation.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19088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Liberation Sans"/>
              </a:defRPr>
            </a:pPr>
            <a:r>
              <a:t>https://www.google.com/travel/flights?q=Flights%20from%20IAD%20to%20DEN%20on%202026-11-28%20returning%202026-12-02&amp;hl=en&amp;curr=USD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11734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3559"/>
                </a:solidFill>
                <a:latin typeface="Liberation Sans"/>
              </a:defRPr>
            </a:pPr>
            <a:r>
              <a:t>Phoenix | actual selected round-trip flight $499.00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11734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574"/>
                </a:solidFill>
                <a:latin typeface="Liberation Sans"/>
              </a:defRPr>
            </a:pPr>
            <a:r>
              <a:t>Captured 2026-10-24 UTC | travel 2026-11-28 to 2026-12-02 | USD</a:t>
            </a:r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rcRect l="15625" t="6364" r="15625" b="62727"/>
          <a:stretch>
            <a:fillRect/>
          </a:stretch>
        </p:blipFill>
        <p:spPr>
          <a:xfrm>
            <a:off x="1140606" y="1024128"/>
            <a:ext cx="9910482" cy="3063240"/>
          </a:xfrm>
          <a:prstGeom prst="rect">
            <a:avLst/>
          </a:prstGeom>
        </p:spPr>
      </p:pic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2"/>
          <a:srcRect l="18750" t="88182" r="15625" b="909"/>
          <a:stretch>
            <a:fillRect/>
          </a:stretch>
        </p:blipFill>
        <p:spPr>
          <a:xfrm>
            <a:off x="3495522" y="4251960"/>
            <a:ext cx="520065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937760"/>
            <a:ext cx="115516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41"/>
                </a:solidFill>
                <a:latin typeface="Liberation Sans"/>
              </a:defRPr>
            </a:pPr>
            <a:r>
              <a:t>United; IAD-PHX; Nov 28 08:20-11:33 / Dec 2 14:54-19:09, local times. One passenger; economy incl. Basic. Taxes are in the displayed total; bags, seat choice, refund/change entitlement and government purchasing eligibility require confirmation.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19088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Liberation Sans"/>
              </a:defRPr>
            </a:pPr>
            <a:r>
              <a:t>https://www.google.com/travel/flights?q=Flights%20from%20IAD%20to%20PHX%20on%202026-11-28%20returning%202026-12-02&amp;hl=en&amp;curr=USD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11734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3559"/>
                </a:solidFill>
                <a:latin typeface="Liberation Sans"/>
              </a:defRPr>
            </a:pPr>
            <a:r>
              <a:t>Seattle | actual selected round-trip flight $590.00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11734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574"/>
                </a:solidFill>
                <a:latin typeface="Liberation Sans"/>
              </a:defRPr>
            </a:pPr>
            <a:r>
              <a:t>Captured 2026-10-24 UTC | travel 2026-11-28 to 2026-12-02 | USD</a:t>
            </a:r>
          </a:p>
        </p:txBody>
      </p:sp>
      <p:pic>
        <p:nvPicPr>
          <p:cNvPr id="4" name="Picture 3" descr="image5.png"/>
          <p:cNvPicPr>
            <a:picLocks noChangeAspect="1"/>
          </p:cNvPicPr>
          <p:nvPr/>
        </p:nvPicPr>
        <p:blipFill>
          <a:blip r:embed="rId2"/>
          <a:srcRect l="15625" t="6364" r="15625" b="62727"/>
          <a:stretch>
            <a:fillRect/>
          </a:stretch>
        </p:blipFill>
        <p:spPr>
          <a:xfrm>
            <a:off x="1140606" y="1024128"/>
            <a:ext cx="9910482" cy="3063240"/>
          </a:xfrm>
          <a:prstGeom prst="rect">
            <a:avLst/>
          </a:prstGeom>
        </p:spPr>
      </p:pic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2"/>
          <a:srcRect l="18750" t="88182" r="15625" b="909"/>
          <a:stretch>
            <a:fillRect/>
          </a:stretch>
        </p:blipFill>
        <p:spPr>
          <a:xfrm>
            <a:off x="3495522" y="4251960"/>
            <a:ext cx="520065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937760"/>
            <a:ext cx="115516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41"/>
                </a:solidFill>
                <a:latin typeface="Liberation Sans"/>
              </a:defRPr>
            </a:pPr>
            <a:r>
              <a:t>United; IAD-SEA; Nov 28 17:50-20:56 / Dec 2 08:09-16:08, local times. One passenger; economy incl. Basic. Taxes are in the displayed total; bags, seat choice, refund/change entitlement and government purchasing eligibility require confirmation.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19088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Liberation Sans"/>
              </a:defRPr>
            </a:pPr>
            <a:r>
              <a:t>https://www.google.com/travel/flights?q=Flights%20from%20IAD%20to%20SEA%20on%202026-11-28%20returning%202026-12-02&amp;hl=en&amp;curr=USD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11734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3559"/>
                </a:solidFill>
                <a:latin typeface="Liberation Sans"/>
              </a:defRPr>
            </a:pPr>
            <a:r>
              <a:t>Boston | adopted cost anchor - not a cleared booking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11734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574"/>
                </a:solidFill>
                <a:latin typeface="Liberation Sans"/>
              </a:defRPr>
            </a:pPr>
            <a:r>
              <a:t>Captured 2026-10-24 UTC | travel 2026-11-28 to 2026-12-02 | USD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l="8681" r="8333" b="91765"/>
          <a:stretch>
            <a:fillRect/>
          </a:stretch>
        </p:blipFill>
        <p:spPr>
          <a:xfrm>
            <a:off x="2193318" y="1005840"/>
            <a:ext cx="7805057" cy="914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rcRect l="29514" t="81176" r="9028" b="5412"/>
          <a:stretch>
            <a:fillRect/>
          </a:stretch>
        </p:blipFill>
        <p:spPr>
          <a:xfrm>
            <a:off x="1481736" y="1965960"/>
            <a:ext cx="9228221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526280"/>
            <a:ext cx="11551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41"/>
                </a:solidFill>
                <a:latin typeface="Liberation Sans"/>
              </a:defRPr>
            </a:pPr>
            <a:r>
              <a:t>DoubleTree by Hilton Hotel Boston Bayside</a:t>
            </a:r>
          </a:p>
          <a:p>
            <a:pPr>
              <a:defRPr sz="1300" b="0">
                <a:solidFill>
                  <a:srgbClr val="233041"/>
                </a:solidFill>
                <a:latin typeface="Liberation Sans"/>
              </a:defRPr>
            </a:pPr>
            <a:r>
              <a:t>$108.00/room/night; Trip.com 8.6/10 | 449 reviews.</a:t>
            </a:r>
          </a:p>
          <a:p>
            <a:pPr>
              <a:defRPr sz="1300" b="0">
                <a:solidFill>
                  <a:srgbClr val="233041"/>
                </a:solidFill>
                <a:latin typeface="Liberation Sans"/>
              </a:defRPr>
            </a:pPr>
            <a:r>
              <a:t>King Room; breakfast not displayed; recent reviews missing.</a:t>
            </a:r>
          </a:p>
          <a:p>
            <a:pPr>
              <a:defRPr sz="1300" b="0">
                <a:solidFill>
                  <a:srgbClr val="233041"/>
                </a:solidFill>
                <a:latin typeface="Liberation Sans"/>
              </a:defRPr>
            </a:pPr>
            <a:r>
              <a:t>4-night indicative room extension = $432.00; 12% internal tax allowance = $51.84. Group inventory, exact one-adult terms and final tax/fees remain unverified. Quality admission: PENDING.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19088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Liberation Sans"/>
              </a:defRPr>
            </a:pPr>
            <a:r>
              <a:t>Trip.com city search (1 room / 1 adult) or Google Hotels dated panel | original 2026-10-24 capture; see Sources for full URL and provider limits.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11734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3559"/>
                </a:solidFill>
                <a:latin typeface="Liberation Sans"/>
              </a:defRPr>
            </a:pPr>
            <a:r>
              <a:t>Chicago | breakfast-linked offers exceed lodging 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11734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574"/>
                </a:solidFill>
                <a:latin typeface="Liberation Sans"/>
              </a:defRPr>
            </a:pPr>
            <a:r>
              <a:t>Captured 2026-10-24 UTC | travel 2026-11-28 to 2026-12-02 | USD</a:t>
            </a:r>
          </a:p>
        </p:txBody>
      </p:sp>
      <p:pic>
        <p:nvPicPr>
          <p:cNvPr id="4" name="Picture 3" descr="image11.png"/>
          <p:cNvPicPr>
            <a:picLocks noChangeAspect="1"/>
          </p:cNvPicPr>
          <p:nvPr/>
        </p:nvPicPr>
        <p:blipFill>
          <a:blip r:embed="rId2"/>
          <a:srcRect l="18750" t="5417" r="31875" b="8333"/>
          <a:stretch>
            <a:fillRect/>
          </a:stretch>
        </p:blipFill>
        <p:spPr>
          <a:xfrm>
            <a:off x="1605280" y="1005840"/>
            <a:ext cx="4013200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1097280"/>
            <a:ext cx="46936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41"/>
                </a:solidFill>
                <a:latin typeface="Liberation Sans"/>
              </a:defRPr>
            </a:pPr>
            <a:r>
              <a:t>Embassy Suites O’Hare Rosemont: Agoda $158/night expressly includes free breakfast; Booking.com suite $159 also includes breakfast. Both exceed the FY2027 Dec-1 lodging cap of $148 without actual-expense authorization and are excluded from compliant ranking, not truncated to the cap.</a:t>
            </a:r>
          </a:p>
          <a:p>
            <a:pPr>
              <a:defRPr sz="1300">
                <a:latin typeface="Liberation Sans"/>
              </a:defRPr>
            </a:pPr>
            <a:r>
              <a:t>Billabook $101 is a 2-guest row without room-specific breakfast proof; it is archived as a lower bound only, not an eligible breakfast-included offer. Room/single-occupant applicability and inventory remain open.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419088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Liberation Sans"/>
              </a:defRPr>
            </a:pPr>
            <a:r>
              <a:t>Trip.com city search (1 room / 1 adult) or Google Hotels dated panel | original 2026-10-24 capture; see Sources for full URL and provider limits.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11734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3559"/>
                </a:solidFill>
                <a:latin typeface="Liberation Sans"/>
              </a:defRPr>
            </a:pPr>
            <a:r>
              <a:t>Denver | adopted cost anchor - not a cleared booking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11734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574"/>
                </a:solidFill>
                <a:latin typeface="Liberation Sans"/>
              </a:defRPr>
            </a:pPr>
            <a:r>
              <a:t>Captured 2026-10-24 UTC | travel 2026-11-28 to 2026-12-02 | USD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l="8681" r="8333" b="91765"/>
          <a:stretch>
            <a:fillRect/>
          </a:stretch>
        </p:blipFill>
        <p:spPr>
          <a:xfrm>
            <a:off x="2193318" y="1005840"/>
            <a:ext cx="7805057" cy="914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rcRect l="29514" t="50000" r="9028" b="32471"/>
          <a:stretch>
            <a:fillRect/>
          </a:stretch>
        </p:blipFill>
        <p:spPr>
          <a:xfrm>
            <a:off x="2565588" y="1965960"/>
            <a:ext cx="7060518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526280"/>
            <a:ext cx="11551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41"/>
                </a:solidFill>
                <a:latin typeface="Liberation Sans"/>
              </a:defRPr>
            </a:pPr>
            <a:r>
              <a:t>Home2 Suites Denver Downtown Convention Center</a:t>
            </a:r>
          </a:p>
          <a:p>
            <a:pPr>
              <a:defRPr sz="1300" b="0">
                <a:solidFill>
                  <a:srgbClr val="233041"/>
                </a:solidFill>
                <a:latin typeface="Liberation Sans"/>
              </a:defRPr>
            </a:pPr>
            <a:r>
              <a:t>$109.00/room/night; Trip.com 9.0/10 | 94 reviews.</a:t>
            </a:r>
          </a:p>
          <a:p>
            <a:pPr>
              <a:defRPr sz="1300" b="0">
                <a:solidFill>
                  <a:srgbClr val="233041"/>
                </a:solidFill>
                <a:latin typeface="Liberation Sans"/>
              </a:defRPr>
            </a:pPr>
            <a:r>
              <a:t>King Studio Suite; breakfast shown. $79 Holiday Inn Express Downtown is a recorded alternative.</a:t>
            </a:r>
          </a:p>
          <a:p>
            <a:pPr>
              <a:defRPr sz="1300" b="0">
                <a:solidFill>
                  <a:srgbClr val="233041"/>
                </a:solidFill>
                <a:latin typeface="Liberation Sans"/>
              </a:defRPr>
            </a:pPr>
            <a:r>
              <a:t>4-night indicative room extension = $436.00; 12% internal tax allowance = $52.32. Group inventory, exact one-adult terms and final tax/fees remain unverified. Quality admission: PENDING.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19088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Liberation Sans"/>
              </a:defRPr>
            </a:pPr>
            <a:r>
              <a:t>Trip.com city search (1 room / 1 adult) or Google Hotels dated panel | original 2026-10-24 capture; see Sources for full URL and provider limits.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11734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3559"/>
                </a:solidFill>
                <a:latin typeface="Liberation Sans"/>
              </a:defRPr>
            </a:pPr>
            <a:r>
              <a:t>Phoenix | adopted cost anchor - not a cleared booking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11734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574"/>
                </a:solidFill>
                <a:latin typeface="Liberation Sans"/>
              </a:defRPr>
            </a:pPr>
            <a:r>
              <a:t>Captured 2026-10-24 UTC | travel 2026-11-28 to 2026-12-02 | USD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l="8681" r="8333" b="91765"/>
          <a:stretch>
            <a:fillRect/>
          </a:stretch>
        </p:blipFill>
        <p:spPr>
          <a:xfrm>
            <a:off x="2193318" y="1005840"/>
            <a:ext cx="7805057" cy="914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rcRect l="29514" t="82529" r="9028" b="2353"/>
          <a:stretch>
            <a:fillRect/>
          </a:stretch>
        </p:blipFill>
        <p:spPr>
          <a:xfrm>
            <a:off x="2002395" y="1965960"/>
            <a:ext cx="8186904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526280"/>
            <a:ext cx="11551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41"/>
                </a:solidFill>
                <a:latin typeface="Liberation Sans"/>
              </a:defRPr>
            </a:pPr>
            <a:r>
              <a:t>Hampton Inn &amp; Suites Phoenix North/Happy Valley</a:t>
            </a:r>
          </a:p>
          <a:p>
            <a:pPr>
              <a:defRPr sz="1300" b="0">
                <a:solidFill>
                  <a:srgbClr val="233041"/>
                </a:solidFill>
                <a:latin typeface="Liberation Sans"/>
              </a:defRPr>
            </a:pPr>
            <a:r>
              <a:t>$150.00/room/night; Trip.com 9.4/10 | 116 reviews.</a:t>
            </a:r>
          </a:p>
          <a:p>
            <a:pPr>
              <a:defRPr sz="1300" b="0">
                <a:solidFill>
                  <a:srgbClr val="233041"/>
                </a:solidFill>
                <a:latin typeface="Liberation Sans"/>
              </a:defRPr>
            </a:pPr>
            <a:r>
              <a:t>King-bed mobility-accessible room; breakfast shown. Deer Valley location; venue access open.</a:t>
            </a:r>
          </a:p>
          <a:p>
            <a:pPr>
              <a:defRPr sz="1300" b="0">
                <a:solidFill>
                  <a:srgbClr val="233041"/>
                </a:solidFill>
                <a:latin typeface="Liberation Sans"/>
              </a:defRPr>
            </a:pPr>
            <a:r>
              <a:t>4-night indicative room extension = $600.00; 12% internal tax allowance = $72.00. Group inventory, exact one-adult terms and final tax/fees remain unverified. Quality admission: PENDING.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19088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Liberation Sans"/>
              </a:defRPr>
            </a:pPr>
            <a:r>
              <a:t>Trip.com city search (1 room / 1 adult) or Google Hotels dated panel | original 2026-10-24 capture; see Sources for full URL and provider limits.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11734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3559"/>
                </a:solidFill>
                <a:latin typeface="Liberation Sans"/>
              </a:defRPr>
            </a:pPr>
            <a:r>
              <a:t>Seattle | adopted cost anchor - not a cleared booking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11734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574"/>
                </a:solidFill>
                <a:latin typeface="Liberation Sans"/>
              </a:defRPr>
            </a:pPr>
            <a:r>
              <a:t>Captured 2026-10-24 UTC | travel 2026-11-28 to 2026-12-02 | USD</a:t>
            </a:r>
          </a:p>
        </p:txBody>
      </p:sp>
      <p:pic>
        <p:nvPicPr>
          <p:cNvPr id="4" name="Picture 3" descr="image21.png"/>
          <p:cNvPicPr>
            <a:picLocks noChangeAspect="1"/>
          </p:cNvPicPr>
          <p:nvPr/>
        </p:nvPicPr>
        <p:blipFill>
          <a:blip r:embed="rId2"/>
          <a:srcRect l="18750" t="5417" r="31875" b="8333"/>
          <a:stretch>
            <a:fillRect/>
          </a:stretch>
        </p:blipFill>
        <p:spPr>
          <a:xfrm>
            <a:off x="1605280" y="1005840"/>
            <a:ext cx="4013200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1097280"/>
            <a:ext cx="469361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41"/>
                </a:solidFill>
                <a:latin typeface="Liberation Sans"/>
              </a:defRPr>
            </a:pPr>
            <a:r>
              <a:t>Country Inn &amp; Suites Seattle-Tacoma Airport</a:t>
            </a:r>
          </a:p>
          <a:p>
            <a:pPr>
              <a:defRPr sz="1300" b="0">
                <a:solidFill>
                  <a:srgbClr val="233041"/>
                </a:solidFill>
                <a:latin typeface="Liberation Sans"/>
              </a:defRPr>
            </a:pPr>
            <a:r>
              <a:t>$101.00/room/night; Google 4.3/5 | 2,018 reviews.</a:t>
            </a:r>
          </a:p>
          <a:p>
            <a:pPr>
              <a:defRPr sz="1300" b="0">
                <a:solidFill>
                  <a:srgbClr val="233041"/>
                </a:solidFill>
                <a:latin typeface="Liberation Sans"/>
              </a:defRPr>
            </a:pPr>
            <a:r>
              <a:t>Booking.com $101 explicitly includes free breakfast but the quote shows 2 guests. One-adult applicability and recent noise review remain open.</a:t>
            </a:r>
          </a:p>
          <a:p>
            <a:pPr>
              <a:defRPr sz="1300" b="0">
                <a:solidFill>
                  <a:srgbClr val="233041"/>
                </a:solidFill>
                <a:latin typeface="Liberation Sans"/>
              </a:defRPr>
            </a:pPr>
            <a:r>
              <a:t>4-night indicative room extension = $404.00; 12% internal tax allowance = $48.48. Group inventory, exact one-adult terms and final tax/fees remain unverified. Quality admission: PENDING.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419088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Liberation Sans"/>
              </a:defRPr>
            </a:pPr>
            <a:r>
              <a:t>Trip.com city search (1 room / 1 adult) or Google Hotels dated panel | original 2026-10-24 capture; see Sources for full URL and provider limits.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11734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3559"/>
                </a:solidFill>
                <a:latin typeface="Liberation Sans"/>
              </a:defRPr>
            </a:pPr>
            <a:r>
              <a:t>Chicago | actual review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11734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574"/>
                </a:solidFill>
                <a:latin typeface="Liberation Sans"/>
              </a:defRPr>
            </a:pPr>
            <a:r>
              <a:t>Captured 2026-10-24 UTC | travel 2026-11-28 to 2026-12-02 | USD</a:t>
            </a:r>
          </a:p>
        </p:txBody>
      </p:sp>
      <p:pic>
        <p:nvPicPr>
          <p:cNvPr id="4" name="Picture 3" descr="image12.png"/>
          <p:cNvPicPr>
            <a:picLocks noChangeAspect="1"/>
          </p:cNvPicPr>
          <p:nvPr/>
        </p:nvPicPr>
        <p:blipFill>
          <a:blip r:embed="rId2"/>
          <a:srcRect l="18750" t="5417" r="31875" b="67500"/>
          <a:stretch>
            <a:fillRect/>
          </a:stretch>
        </p:blipFill>
        <p:spPr>
          <a:xfrm>
            <a:off x="922137" y="1005840"/>
            <a:ext cx="4556525" cy="18745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024128"/>
            <a:ext cx="5516575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3041"/>
                </a:solidFill>
                <a:latin typeface="Liberation Sans"/>
              </a:defRPr>
            </a:pPr>
            <a:r>
              <a:t>Google 4.1/5; 3,418 reviews. One month-old 3/5 account reports no hot water and badly worn couch/sofa. Owner acknowledges and says maintenance was notified, without repair-completion evidence. A single report does not prove a repeated pattern; it does require follow-up before admission.</a:t>
            </a:r>
          </a:p>
        </p:txBody>
      </p:sp>
      <p:pic>
        <p:nvPicPr>
          <p:cNvPr id="6" name="Picture 5" descr="image12.png"/>
          <p:cNvPicPr>
            <a:picLocks noChangeAspect="1"/>
          </p:cNvPicPr>
          <p:nvPr/>
        </p:nvPicPr>
        <p:blipFill>
          <a:blip r:embed="rId2"/>
          <a:srcRect l="20000" t="60000" r="32812" b="7917"/>
          <a:stretch>
            <a:fillRect/>
          </a:stretch>
        </p:blipFill>
        <p:spPr>
          <a:xfrm>
            <a:off x="3181939" y="3063240"/>
            <a:ext cx="5827815" cy="29717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6419088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Liberation Sans"/>
              </a:defRPr>
            </a:pPr>
            <a:r>
              <a:t>https://www.google.com/travel/hotels | archived 2026-10-24 UTC; these are guest allegations/opinions, not independently established defects.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11734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3559"/>
                </a:solidFill>
                <a:latin typeface="Liberation Sans"/>
              </a:defRPr>
            </a:pPr>
            <a:r>
              <a:t>Denver alternative | actual review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11734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574"/>
                </a:solidFill>
                <a:latin typeface="Liberation Sans"/>
              </a:defRPr>
            </a:pPr>
            <a:r>
              <a:t>Captured 2026-10-24 UTC | travel 2026-11-28 to 2026-12-02 | USD</a:t>
            </a:r>
          </a:p>
        </p:txBody>
      </p:sp>
      <p:pic>
        <p:nvPicPr>
          <p:cNvPr id="4" name="Picture 3" descr="image15.png"/>
          <p:cNvPicPr>
            <a:picLocks noChangeAspect="1"/>
          </p:cNvPicPr>
          <p:nvPr/>
        </p:nvPicPr>
        <p:blipFill>
          <a:blip r:embed="rId2"/>
          <a:srcRect l="18750" t="5417" r="31875" b="67500"/>
          <a:stretch>
            <a:fillRect/>
          </a:stretch>
        </p:blipFill>
        <p:spPr>
          <a:xfrm>
            <a:off x="922137" y="1005840"/>
            <a:ext cx="4556525" cy="18745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024128"/>
            <a:ext cx="5516575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3041"/>
                </a:solidFill>
                <a:latin typeface="Liberation Sans"/>
              </a:defRPr>
            </a:pPr>
            <a:r>
              <a:t>Holiday Inn Express &amp; Suites Denver Airport: 4.0/5; 1,394 reviews. Visible month-old 5/5 account praises compassionate service. It does not establish cleanliness, night-noise and maintenance coverage; no blanket quality clearance is inferred.</a:t>
            </a:r>
          </a:p>
        </p:txBody>
      </p:sp>
      <p:pic>
        <p:nvPicPr>
          <p:cNvPr id="6" name="Picture 5" descr="image15.png"/>
          <p:cNvPicPr>
            <a:picLocks noChangeAspect="1"/>
          </p:cNvPicPr>
          <p:nvPr/>
        </p:nvPicPr>
        <p:blipFill>
          <a:blip r:embed="rId2"/>
          <a:srcRect l="20000" t="60000" r="32812" b="7917"/>
          <a:stretch>
            <a:fillRect/>
          </a:stretch>
        </p:blipFill>
        <p:spPr>
          <a:xfrm>
            <a:off x="3181939" y="3063240"/>
            <a:ext cx="5827815" cy="29717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6419088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Liberation Sans"/>
              </a:defRPr>
            </a:pPr>
            <a:r>
              <a:t>https://www.google.com/travel/hotels | archived 2026-10-24 UTC; these are guest allegations/opinions, not independently established defects.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11734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3559"/>
                </a:solidFill>
                <a:latin typeface="Liberation Sans"/>
              </a:defRPr>
            </a:pPr>
            <a:r>
              <a:t>Phoenix alternative | actual review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11734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574"/>
                </a:solidFill>
                <a:latin typeface="Liberation Sans"/>
              </a:defRPr>
            </a:pPr>
            <a:r>
              <a:t>Captured 2026-10-24 UTC | travel 2026-11-28 to 2026-12-02 | USD</a:t>
            </a:r>
          </a:p>
        </p:txBody>
      </p:sp>
      <p:pic>
        <p:nvPicPr>
          <p:cNvPr id="4" name="Picture 3" descr="image18.png"/>
          <p:cNvPicPr>
            <a:picLocks noChangeAspect="1"/>
          </p:cNvPicPr>
          <p:nvPr/>
        </p:nvPicPr>
        <p:blipFill>
          <a:blip r:embed="rId2"/>
          <a:srcRect l="18750" t="5417" r="31875" b="67500"/>
          <a:stretch>
            <a:fillRect/>
          </a:stretch>
        </p:blipFill>
        <p:spPr>
          <a:xfrm>
            <a:off x="922137" y="1005840"/>
            <a:ext cx="4556525" cy="18745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024128"/>
            <a:ext cx="5516575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3041"/>
                </a:solidFill>
                <a:latin typeface="Liberation Sans"/>
              </a:defRPr>
            </a:pPr>
            <a:r>
              <a:t>Holiday Inn &amp; Suites Phoenix Airport North: 4.0/5; 1,783 reviews. Visible 7-month-old 1/5 report alleges drain flies; another 3-month-old 2/5 entry is visible but its full text is not. Request a recent topic-specific review sample and response/remediation evidence.</a:t>
            </a:r>
          </a:p>
        </p:txBody>
      </p:sp>
      <p:pic>
        <p:nvPicPr>
          <p:cNvPr id="6" name="Picture 5" descr="image18.png"/>
          <p:cNvPicPr>
            <a:picLocks noChangeAspect="1"/>
          </p:cNvPicPr>
          <p:nvPr/>
        </p:nvPicPr>
        <p:blipFill>
          <a:blip r:embed="rId2"/>
          <a:srcRect l="20000" t="60000" r="32812" b="7917"/>
          <a:stretch>
            <a:fillRect/>
          </a:stretch>
        </p:blipFill>
        <p:spPr>
          <a:xfrm>
            <a:off x="3181939" y="3063240"/>
            <a:ext cx="5827815" cy="29717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6419088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Liberation Sans"/>
              </a:defRPr>
            </a:pPr>
            <a:r>
              <a:t>https://www.google.com/travel/hotels | archived 2026-10-24 UTC; these are guest allegations/opinions, not independently established defects.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11734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3559"/>
                </a:solidFill>
                <a:latin typeface="Liberation Sans"/>
              </a:defRPr>
            </a:pPr>
            <a:r>
              <a:t>Seattle | actual review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11734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574"/>
                </a:solidFill>
                <a:latin typeface="Liberation Sans"/>
              </a:defRPr>
            </a:pPr>
            <a:r>
              <a:t>Captured 2026-10-24 UTC | travel 2026-11-28 to 2026-12-02 | USD</a:t>
            </a:r>
          </a:p>
        </p:txBody>
      </p:sp>
      <p:pic>
        <p:nvPicPr>
          <p:cNvPr id="4" name="Picture 3" descr="image22.png"/>
          <p:cNvPicPr>
            <a:picLocks noChangeAspect="1"/>
          </p:cNvPicPr>
          <p:nvPr/>
        </p:nvPicPr>
        <p:blipFill>
          <a:blip r:embed="rId2"/>
          <a:srcRect l="18750" t="5417" r="31875" b="67500"/>
          <a:stretch>
            <a:fillRect/>
          </a:stretch>
        </p:blipFill>
        <p:spPr>
          <a:xfrm>
            <a:off x="922137" y="1005840"/>
            <a:ext cx="4556525" cy="18745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024128"/>
            <a:ext cx="5516575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3041"/>
                </a:solidFill>
                <a:latin typeface="Liberation Sans"/>
              </a:defRPr>
            </a:pPr>
            <a:r>
              <a:t>Country Inn: 4.3/5; 2,018 reviews. Week-old 5/5 report describes renovated clean rooms but dark lighting and no hair dryer; a second older fragment praises cleanliness. This sample does not prove an absence of noise or maintenance problems.</a:t>
            </a:r>
          </a:p>
        </p:txBody>
      </p:sp>
      <p:pic>
        <p:nvPicPr>
          <p:cNvPr id="6" name="Picture 5" descr="image22.png"/>
          <p:cNvPicPr>
            <a:picLocks noChangeAspect="1"/>
          </p:cNvPicPr>
          <p:nvPr/>
        </p:nvPicPr>
        <p:blipFill>
          <a:blip r:embed="rId2"/>
          <a:srcRect l="20000" t="60000" r="32812" b="7917"/>
          <a:stretch>
            <a:fillRect/>
          </a:stretch>
        </p:blipFill>
        <p:spPr>
          <a:xfrm>
            <a:off x="3181939" y="3063240"/>
            <a:ext cx="5827815" cy="29717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6419088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Liberation Sans"/>
              </a:defRPr>
            </a:pPr>
            <a:r>
              <a:t>https://www.google.com/travel/hotels | archived 2026-10-24 UTC; these are guest allegations/opinions, not independently established defects.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11734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3559"/>
                </a:solidFill>
                <a:latin typeface="Liberation Sans"/>
              </a:defRPr>
            </a:pPr>
            <a:r>
              <a:t>Seattle alternative - correction | actual review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11734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574"/>
                </a:solidFill>
                <a:latin typeface="Liberation Sans"/>
              </a:defRPr>
            </a:pPr>
            <a:r>
              <a:t>Captured 2026-10-24 UTC | travel 2026-11-28 to 2026-12-02 | USD</a:t>
            </a:r>
          </a:p>
        </p:txBody>
      </p:sp>
      <p:pic>
        <p:nvPicPr>
          <p:cNvPr id="4" name="Picture 3" descr="image24.png"/>
          <p:cNvPicPr>
            <a:picLocks noChangeAspect="1"/>
          </p:cNvPicPr>
          <p:nvPr/>
        </p:nvPicPr>
        <p:blipFill>
          <a:blip r:embed="rId2"/>
          <a:srcRect l="18750" t="5417" r="31875" b="67500"/>
          <a:stretch>
            <a:fillRect/>
          </a:stretch>
        </p:blipFill>
        <p:spPr>
          <a:xfrm>
            <a:off x="922137" y="1005840"/>
            <a:ext cx="4556525" cy="18745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024128"/>
            <a:ext cx="5516575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3041"/>
                </a:solidFill>
                <a:latin typeface="Liberation Sans"/>
              </a:defRPr>
            </a:pPr>
            <a:r>
              <a:t>Aloft: 4.3/5; 1,037 reviews. The two visible two-month-old reviews are 5/5 and positive about convenience/shuttle and room cleanliness; one mentions a slow elevator. Earlier aircraft/monorail-noise exclusion is unsupported by this screenshot and has been withdrawn.</a:t>
            </a:r>
          </a:p>
        </p:txBody>
      </p:sp>
      <p:pic>
        <p:nvPicPr>
          <p:cNvPr id="6" name="Picture 5" descr="image24.png"/>
          <p:cNvPicPr>
            <a:picLocks noChangeAspect="1"/>
          </p:cNvPicPr>
          <p:nvPr/>
        </p:nvPicPr>
        <p:blipFill>
          <a:blip r:embed="rId2"/>
          <a:srcRect l="20000" t="60000" r="32812" b="7917"/>
          <a:stretch>
            <a:fillRect/>
          </a:stretch>
        </p:blipFill>
        <p:spPr>
          <a:xfrm>
            <a:off x="3181939" y="3063240"/>
            <a:ext cx="5827815" cy="29717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6419088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Liberation Sans"/>
              </a:defRPr>
            </a:pPr>
            <a:r>
              <a:t>https://www.google.com/travel/hotels | archived 2026-10-24 UTC; these are guest allegations/opinions, not independently established defects.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11734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3559"/>
                </a:solidFill>
                <a:latin typeface="Liberation Sans"/>
              </a:defRPr>
            </a:pPr>
            <a:r>
              <a:t>Boston | specific competing hotel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11734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574"/>
                </a:solidFill>
                <a:latin typeface="Liberation Sans"/>
              </a:defRPr>
            </a:pPr>
            <a:r>
              <a:t>Captured 2026-10-24 UTC | travel 2026-11-28 to 2026-12-02 | USD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l="8681" r="8333" b="91765"/>
          <a:stretch>
            <a:fillRect/>
          </a:stretch>
        </p:blipFill>
        <p:spPr>
          <a:xfrm>
            <a:off x="2388445" y="1005840"/>
            <a:ext cx="7414804" cy="868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rcRect l="29514" t="50294" r="9028" b="33235"/>
          <a:stretch>
            <a:fillRect/>
          </a:stretch>
        </p:blipFill>
        <p:spPr>
          <a:xfrm>
            <a:off x="1905119" y="1920240"/>
            <a:ext cx="8381455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54880"/>
            <a:ext cx="115516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3041"/>
                </a:solidFill>
                <a:latin typeface="Liberation Sans"/>
              </a:defRPr>
            </a:pPr>
            <a:r>
              <a:t>Cambria Boston Downtown-Seaport: $120/night, 8.6/10 (105). King Bed; breakfast not displayed. $108 DoubleTree remains the lower room anchor; both lack recent topic-specific reviews.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19088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Liberation Sans"/>
              </a:defRPr>
            </a:pPr>
            <a:r>
              <a:t>Original dated platform screenshot; screening uses score scale, count, recent issue evidence and room/breakfast/transport conditions together.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11734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3559"/>
                </a:solidFill>
                <a:latin typeface="Liberation Sans"/>
              </a:defRPr>
            </a:pPr>
            <a:r>
              <a:t>Chicago | specific competing hotel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11734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574"/>
                </a:solidFill>
                <a:latin typeface="Liberation Sans"/>
              </a:defRPr>
            </a:pPr>
            <a:r>
              <a:t>Captured 2026-10-24 UTC | travel 2026-11-28 to 2026-12-02 | USD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l="8681" r="8333" b="91765"/>
          <a:stretch>
            <a:fillRect/>
          </a:stretch>
        </p:blipFill>
        <p:spPr>
          <a:xfrm>
            <a:off x="2388445" y="1005840"/>
            <a:ext cx="7414804" cy="868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rcRect l="29514" t="19412" r="9028" b="65294"/>
          <a:stretch>
            <a:fillRect/>
          </a:stretch>
        </p:blipFill>
        <p:spPr>
          <a:xfrm>
            <a:off x="1582755" y="1920240"/>
            <a:ext cx="9026183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54880"/>
            <a:ext cx="115516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3041"/>
                </a:solidFill>
                <a:latin typeface="Liberation Sans"/>
              </a:defRPr>
            </a:pPr>
            <a:r>
              <a:t>Warwick Allerton: $145/night, 8.6/10 (399), Standard Room/queen bed; one left at price. Breakfast and reviews unresolved. Compared with Embassy $101, different location may alter venue transport; group rooms are not secured.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19088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Liberation Sans"/>
              </a:defRPr>
            </a:pPr>
            <a:r>
              <a:t>Original dated platform screenshot; screening uses score scale, count, recent issue evidence and room/breakfast/transport conditions together.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11734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3559"/>
                </a:solidFill>
                <a:latin typeface="Liberation Sans"/>
              </a:defRPr>
            </a:pPr>
            <a:r>
              <a:t>Denver | specific competing hotel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11734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574"/>
                </a:solidFill>
                <a:latin typeface="Liberation Sans"/>
              </a:defRPr>
            </a:pPr>
            <a:r>
              <a:t>Captured 2026-10-24 UTC | travel 2026-11-28 to 2026-12-02 | USD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l="8681" r="8333" b="91765"/>
          <a:stretch>
            <a:fillRect/>
          </a:stretch>
        </p:blipFill>
        <p:spPr>
          <a:xfrm>
            <a:off x="2388445" y="1005840"/>
            <a:ext cx="7414804" cy="868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rcRect l="29514" t="35000" r="9028" b="49882"/>
          <a:stretch>
            <a:fillRect/>
          </a:stretch>
        </p:blipFill>
        <p:spPr>
          <a:xfrm>
            <a:off x="1530073" y="1920240"/>
            <a:ext cx="9131547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54880"/>
            <a:ext cx="115516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3041"/>
                </a:solidFill>
                <a:latin typeface="Liberation Sans"/>
              </a:defRPr>
            </a:pPr>
            <a:r>
              <a:t>Holiday Inn Express Denver Downtown: $79/night, 8.5/10 (89), Standard King Room with Sofa Bed, breakfast included. Lower than Home2 $109. Both require recent reviews and dated inventory; it remains a live competitor, not an omitted option.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19088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Liberation Sans"/>
              </a:defRPr>
            </a:pPr>
            <a:r>
              <a:t>Original dated platform screenshot; screening uses score scale, count, recent issue evidence and room/breakfast/transport conditions together.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11734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3559"/>
                </a:solidFill>
                <a:latin typeface="Liberation Sans"/>
              </a:defRPr>
            </a:pPr>
            <a:r>
              <a:t>Phoenix | specific competing hotel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11734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574"/>
                </a:solidFill>
                <a:latin typeface="Liberation Sans"/>
              </a:defRPr>
            </a:pPr>
            <a:r>
              <a:t>Captured 2026-10-24 UTC | travel 2026-11-28 to 2026-12-02 | USD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l="8681" r="8333" b="91765"/>
          <a:stretch>
            <a:fillRect/>
          </a:stretch>
        </p:blipFill>
        <p:spPr>
          <a:xfrm>
            <a:off x="2388445" y="1005840"/>
            <a:ext cx="7414804" cy="868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rcRect l="29514" t="50882" r="9028" b="32647"/>
          <a:stretch>
            <a:fillRect/>
          </a:stretch>
        </p:blipFill>
        <p:spPr>
          <a:xfrm>
            <a:off x="1905119" y="1920240"/>
            <a:ext cx="8381455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54880"/>
            <a:ext cx="115516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3041"/>
                </a:solidFill>
                <a:latin typeface="Liberation Sans"/>
              </a:defRPr>
            </a:pPr>
            <a:r>
              <a:t>Hyatt Place Phoenix/Downtown: $164/night, 8.7/10 (119), King Bed plus Sofa Bed, breakfast and free cancellation shown. Within $165 cap but little margin; downtown venue access may favor it over Hampton North/Happy Valley.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19088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Liberation Sans"/>
              </a:defRPr>
            </a:pPr>
            <a:r>
              <a:t>Original dated platform screenshot; screening uses score scale, count, recent issue evidence and room/breakfast/transport conditions together.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11734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3559"/>
                </a:solidFill>
                <a:latin typeface="Liberation Sans"/>
              </a:defRPr>
            </a:pPr>
            <a:r>
              <a:t>Seattle | specific competing hotel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11734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574"/>
                </a:solidFill>
                <a:latin typeface="Liberation Sans"/>
              </a:defRPr>
            </a:pPr>
            <a:r>
              <a:t>Captured 2026-10-24 UTC | travel 2026-11-28 to 2026-12-02 | USD</a:t>
            </a:r>
          </a:p>
        </p:txBody>
      </p:sp>
      <p:pic>
        <p:nvPicPr>
          <p:cNvPr id="4" name="Picture 3" descr="image23.png"/>
          <p:cNvPicPr>
            <a:picLocks noChangeAspect="1"/>
          </p:cNvPicPr>
          <p:nvPr/>
        </p:nvPicPr>
        <p:blipFill>
          <a:blip r:embed="rId2"/>
          <a:srcRect l="18750" t="5417" r="31875" b="8333"/>
          <a:stretch>
            <a:fillRect/>
          </a:stretch>
        </p:blipFill>
        <p:spPr>
          <a:xfrm>
            <a:off x="1862151" y="1005840"/>
            <a:ext cx="4048097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188720"/>
            <a:ext cx="414497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3041"/>
                </a:solidFill>
                <a:latin typeface="Liberation Sans"/>
              </a:defRPr>
            </a:pPr>
            <a:r>
              <a:t>Holiday Inn Express &amp; Suites Seattle-Sea-Tac: $100 dealbase / $105 official, 4.1/5 (1,525). Screenshot offers 2 guests; breakfast/provider and exact one-adult terms remain unresolved. Do not equate a lower headline price with a cleared alternative.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419088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Liberation Sans"/>
              </a:defRPr>
            </a:pPr>
            <a:r>
              <a:t>Original dated platform screenshot; screening uses score scale, count, recent issue evidence and room/breakfast/transport conditions together.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11734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3559"/>
                </a:solidFill>
                <a:latin typeface="Liberation Sans"/>
              </a:defRPr>
            </a:pPr>
            <a:r>
              <a:t>What the evidence currently supports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11734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574"/>
                </a:solidFill>
                <a:latin typeface="Liberation Sans"/>
              </a:defRPr>
            </a:pPr>
            <a:r>
              <a:t>Captured 2026-10-24 UTC | travel 2026-11-28 to 2026-12-02 | USD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601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33041"/>
                </a:solidFill>
                <a:latin typeface="Liberation Sans"/>
              </a:defRPr>
            </a:pPr>
            <a:r>
              <a:t>No fully qualified recommendation is established yet. This follows actual documented gaps, not a blanket refusal to research: Boston lacks adopted breakfast/recent-review proof; Chicago has unresolved one-adult applicability and a maintenance complaint; Denver and Phoenix adopted cards lack recent topic evidence; Seattle still needs one-adult/provider matching and a noise review.</a:t>
            </a:r>
          </a:p>
          <a:p>
            <a:pPr>
              <a:defRPr sz="1800" b="0">
                <a:solidFill>
                  <a:srgbClr val="233041"/>
                </a:solidFill>
                <a:latin typeface="Liberation Sans"/>
              </a:defRPr>
            </a:pPr>
          </a:p>
          <a:p>
            <a:pPr>
              <a:defRPr sz="1800" b="0">
                <a:solidFill>
                  <a:srgbClr val="233041"/>
                </a:solidFill>
                <a:latin typeface="Liberation Sans"/>
              </a:defRPr>
            </a:pPr>
            <a:r>
              <a:t>Complete the low-cost candidate first, while keeping all five cities and their specific hotel alternatives in the conditional model. Inventory, venue address/capacity, airport/venue travel, supplier eligibility and funds are execution gates, not facts already confirmed.</a:t>
            </a:r>
          </a:p>
          <a:p>
            <a:pPr>
              <a:defRPr sz="1800" b="0">
                <a:solidFill>
                  <a:srgbClr val="233041"/>
                </a:solidFill>
                <a:latin typeface="Liberation Sans"/>
              </a:defRPr>
            </a:pPr>
          </a:p>
          <a:p>
            <a:pPr>
              <a:defRPr sz="1800" b="0">
                <a:solidFill>
                  <a:srgbClr val="233041"/>
                </a:solidFill>
                <a:latin typeface="Liberation Sans"/>
              </a:defRPr>
            </a:pPr>
            <a:r>
              <a:t>A quote date change requires new pricing; a 2-guest row is not established single-occupancy pricing. No screenshot was fabricated or redrawn, and the original captures are retained in the revised 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419088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Liberation Sans"/>
              </a:defRPr>
            </a:pPr>
            <a:r>
              <a:t>Policy checked: https://www.rd.usda.gov/media/file/download/2036a.pdf - 2036.74 | approval_register.csv records specific evidence requests.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11734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3559"/>
                </a:solidFill>
                <a:latin typeface="Liberation Sans"/>
              </a:defRPr>
            </a:pPr>
            <a:r>
              <a:t>Repaired budget snapshot | conditional totals, USD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11734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574"/>
                </a:solidFill>
                <a:latin typeface="Liberation Sans"/>
              </a:defRPr>
            </a:pPr>
            <a:r>
              <a:t>Captured 2026-10-24 UTC | travel 2026-11-28 to 2026-12-02 | USD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4305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509"/>
                <a:gridCol w="1940509"/>
                <a:gridCol w="1940509"/>
                <a:gridCol w="1940509"/>
                <a:gridCol w="1940509"/>
                <a:gridCol w="1940510"/>
              </a:tblGrid>
              <a:tr h="38238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City /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Partial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Partial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+20%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U max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U max +20%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Boston /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35,420.16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37,191.17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38,758.61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15,056.03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13,563.23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Boston /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26,565.12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27,893.38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29,068.96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23,911.07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22,791.47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Chicago /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39,812.16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41,802.77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43,163.57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10,664.03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9,368.03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Chicago /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29,859.12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31,352.08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32,372.68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20,617.07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19,645.07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Denver /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44,335.68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46,552.46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49,465.58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6,140.51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3,366.11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Denver /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33,251.76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34,914.35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37,099.19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17,224.43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15,143.63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Phoenix /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46,176.00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48,484.80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50,999.76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4,300.19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1,904.99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Phoenix /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34,632.00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36,363.60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38,249.82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15,844.19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14,047.79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Seattle /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43,763.52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45,951.70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48,925.30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6,712.67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3,880.67</a:t>
                      </a:r>
                    </a:p>
                  </a:txBody>
                  <a:tcPr/>
                </a:tc>
              </a:tr>
              <a:tr h="382390"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Seattle /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32,822.64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34,463.77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36,693.97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17,653.55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Liberation Sans"/>
                        </a:defRPr>
                      </a:pPr>
                      <a:r>
                        <a:t>15,529.55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5440680"/>
            <a:ext cx="115516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3041"/>
                </a:solidFill>
                <a:latin typeface="Liberation Sans"/>
              </a:defRPr>
            </a:pPr>
            <a:r>
              <a:t>Derived partial estimates, not supplier commitments. Chicago rows use breakfast-linked $158, which exceeds the Dec-1 $148 cap and is EXCLUDED. Billabook $101 is archival only. Each row has separate unresolved U(city,people); unknown costs and single-occupant applicability are not assumed away.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419088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Liberation Sans"/>
              </a:defRPr>
            </a:pPr>
            <a:r>
              <a:t>Snapshot source: conference_budget.xlsx Options / Thresholds. Trip 11/28-12/2; M&amp;IE inside budget; internal lodging-tax estimate 12%.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11734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3559"/>
                </a:solidFill>
                <a:latin typeface="Liberation Sans"/>
              </a:defRPr>
            </a:pPr>
            <a:r>
              <a:t>Corrected quote selection and decision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11734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574"/>
                </a:solidFill>
                <a:latin typeface="Liberation Sans"/>
              </a:defRPr>
            </a:pPr>
            <a:r>
              <a:t>Captured 2026-10-24 UTC | travel 2026-11-28 to 2026-12-02 | USD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97280"/>
            <a:ext cx="1155161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33041"/>
                </a:solidFill>
                <a:latin typeface="Liberation Sans"/>
              </a:defRPr>
            </a:pPr>
            <a:r>
              <a:t>No fully qualified recommendation is established. Boston 24 is now the first evidence-completion priority: partial base $35,420.16; reserve $1,771.01; partial total $37,191.17 + 1.05 U_Boston_24. At +20% airfare: $38,758.61 + 1.05 U_Boston_24. The DoubleTree $108 card does not show breakfast inclusion; a breakfast quote or matching breakfast-inclusive rate is required.</a:t>
            </a:r>
          </a:p>
          <a:p>
            <a:pPr>
              <a:defRPr sz="1400">
                <a:latin typeface="Liberation Sans"/>
              </a:defRPr>
            </a:pPr>
          </a:p>
          <a:p>
            <a:pPr>
              <a:defRPr sz="1400">
                <a:latin typeface="Liberation Sans"/>
              </a:defRPr>
            </a:pPr>
            <a:r>
              <a:t>Chicago Embassy: the $101 Billabook 2-guest row is NOT a breakfast-matched compliant price. Agoda $158 free-breakfast and Booking $159 breakfast suite are linked offers, but both exceed the $148 Dec-1 cap without authorization. The $158 anchor gives $41,802.77 + 1.05 U_Chicago_24 and is excluded from compliant ranking. Do not clamp the rate.</a:t>
            </a:r>
          </a:p>
          <a:p>
            <a:pPr>
              <a:defRPr sz="1400">
                <a:latin typeface="Liberation Sans"/>
              </a:defRPr>
            </a:pPr>
          </a:p>
          <a:p>
            <a:pPr>
              <a:defRPr sz="1400">
                <a:latin typeface="Liberation Sans"/>
              </a:defRPr>
            </a:pPr>
            <a:r>
              <a:t>Nearest recorded cost backup A19: Boston 24 with American $358 round-trip airfare and the same $108 DoubleTree room. Partial base $36,548.16; total $38,375.57 + 1.05 U_A19; +20% total $40,179.89 + 1.05 U_A19. Its base and stress unquoted-cost ceilings are $13,928.03 and $12,209.63. Both Boston combinations still require breakfast/quality/room evidence. Chicago DoubleTree $133 also remains pending breakfast cost and one-adult terms; a different city is not automatically the nearest backup.</a:t>
            </a:r>
          </a:p>
          <a:p>
            <a:pPr>
              <a:defRPr sz="1400">
                <a:latin typeface="Liberation Sans"/>
              </a:defRPr>
            </a:pPr>
          </a:p>
          <a:p>
            <a:pPr>
              <a:defRPr sz="1400">
                <a:latin typeface="Liberation Sans"/>
              </a:defRPr>
            </a:pPr>
            <a:r>
              <a:t>Seattle Booking.com $101 expressly includes free breakfast, but its 2-guest quote is not established as a one-adult offer. Only verified eligible candidates enter ranking: maximize headcount, then lowest total, then city name; move to 18 only after all eligible 24-person choices fail. All unquoted cost conditions remain candidate-specific.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419088"/>
            <a:ext cx="11734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574"/>
                </a:solidFill>
                <a:latin typeface="Liberation Sans"/>
              </a:defRPr>
            </a:pPr>
            <a:r>
              <a:t>Re-export this PPT / Word / CSV / approval PDF after any workbook parameter change. Current partial estimates are not a complete procurement authorization.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latin typeface="Liberation Sans"/>
              </a:defRPr>
            </a:pPr>
            <a:r>
              <a:t>Boston A19 | original American $358 round-trip alternative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rcRect b="65259"/>
          <a:stretch>
            <a:fillRect/>
          </a:stretch>
        </p:blipFill>
        <p:spPr>
          <a:xfrm>
            <a:off x="548640" y="914400"/>
            <a:ext cx="1097280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530352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Liberation Sans"/>
              </a:defRPr>
            </a:pPr>
            <a:r>
              <a:t>Existing ITA Matrix capture, 2026-10-24 UTC, DCA-BOS Nov28-Dec2. American $358 rows show 07:54-09:30 outbound and return alternatives 06:00-07:49, 09:26-11:14 or 10:12-11:59 local time. Exact chosen return and access to the Dec2 furnished lunch require confirmation; no group seats held.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latin typeface="Liberation Sans"/>
              </a:defRPr>
            </a:pPr>
            <a:r>
              <a:t>https://matrix.itasoftware.com | original Claude source screenshot retained; this is an unresolved candidate, not an approved booking.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