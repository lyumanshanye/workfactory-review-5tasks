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集中培训｜行程与费用证据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负责人决策简报｜动态网页证据查询 2026-10-23 14:00 UTC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94960" cy="1005840"/>
          </a:xfrm>
          <a:prstGeom prst="rect">
            <a:avLst/>
          </a:prstGeom>
          <a:solidFill>
            <a:srgbClr val="E9EFF7"/>
          </a:solidFill>
        </p:spPr>
        <p:txBody>
          <a:bodyPr wrap="square" lIns="73152" rIns="73152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有条件推荐</a:t>
            </a:r>
            <a:br/>
            <a:r>
              <a:t>DENVER · 24人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43000"/>
            <a:ext cx="5394960" cy="1005840"/>
          </a:xfrm>
          <a:prstGeom prst="rect">
            <a:avLst/>
          </a:prstGeom>
          <a:solidFill>
            <a:srgbClr val="E9EFF7"/>
          </a:solidFill>
        </p:spPr>
        <p:txBody>
          <a:bodyPr wrap="square" lIns="73152" rIns="73152">
            <a:spAutoFit/>
          </a:bodyPr>
          <a:lstStyle/>
          <a:p>
            <a:pPr>
              <a:defRPr sz="3000" b="1">
                <a:solidFill>
                  <a:srgbClr val="17365D"/>
                </a:solidFill>
              </a:defRPr>
            </a:pPr>
            <a:r>
              <a:t>已知费用含5%储备</a:t>
            </a:r>
            <a:br/>
            <a:r>
              <a:t>$34,020.00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109728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1">
                <a:solidFill>
                  <a:srgbClr val="C00000"/>
                </a:solidFill>
              </a:defRPr>
            </a:pPr>
            <a:r>
              <a:t>压力处置：票价在调整后上涨20%时，当前首选并非自动维持；转为 Chicago 24人，压力已知含储备 $35,977.54。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94760"/>
            <a:ext cx="10972800" cy="1280160"/>
          </a:xfrm>
          <a:prstGeom prst="rect">
            <a:avLst/>
          </a:prstGeom>
          <a:solidFill>
            <a:srgbClr val="FCE4D6"/>
          </a:solidFill>
        </p:spPr>
        <p:txBody>
          <a:bodyPr wrap="square" lIns="73152" rIns="73152">
            <a:spAutoFit/>
          </a:bodyPr>
          <a:lstStyle/>
          <a:p>
            <a:pPr>
              <a:defRPr sz="1700" b="1">
                <a:solidFill>
                  <a:srgbClr val="C00000"/>
                </a:solidFill>
              </a:defRPr>
            </a:pPr>
            <a:r>
              <a:t>重要：场地、AV、茶歇、机构餐正式报价及团体房量仍待询价；$0为未计入占位，不代表免费。酒店/场地资质、采购、资金和RD 2036-A条款核验均未完成，因此只可批准继续补证，不可直接预订。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06440"/>
            <a:ext cx="109728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00" b="0">
                <a:solidFill>
                  <a:srgbClr val="595959"/>
                </a:solidFill>
              </a:defRPr>
            </a:pPr>
            <a:r>
              <a:t>工作簿是可调整主文件；本PPT、Word、CSV是交付参数快照。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五城×两种人数：已知费用比较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总额不含尚未报价项目；排名仅为临时决策依据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城市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已知含储备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20%票价压力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未报价项余额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Denver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$34,020.00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$36,368.64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$18,980.00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有条件/待补证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$34,611.70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$35,977.54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$18,388.30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有条件/待补证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Phoenix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$38,093.33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$41,021.57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$14,906.67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有条件/待补证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Boston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$44,552.59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$46,215.79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$8,447.41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有条件/待补证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Seattle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$57,269.52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$62,193.60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$-4,269.52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超预算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754880"/>
            <a:ext cx="10972800" cy="1188720"/>
          </a:xfrm>
          <a:prstGeom prst="rect">
            <a:avLst/>
          </a:prstGeom>
          <a:solidFill>
            <a:srgbClr val="E9EFF7"/>
          </a:solidFill>
        </p:spPr>
        <p:txBody>
          <a:bodyPr wrap="square" lIns="73152" rIns="73152">
            <a:spAutoFit/>
          </a:bodyPr>
          <a:lstStyle/>
          <a:p>
            <a:pPr>
              <a:defRPr sz="1500" b="0">
                <a:solidFill>
                  <a:srgbClr val="595959"/>
                </a:solidFill>
              </a:defRPr>
            </a:pPr>
            <a:r>
              <a:t>排序规则：先选预算/差旅合规的较多人数组合；人数相同取含储备总额最低；完全并列按城市英文名。由于关键报价缺失，当前推荐是“临时、有条件”，不等于完整总价已低于上限。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Chicago｜航班与住宿网页证据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DCA–ORD · 2026-11-28出发 / 2026-12-02返程 · 1名成人 · USD</a:t>
            </a:r>
          </a:p>
        </p:txBody>
      </p:sp>
      <p:pic>
        <p:nvPicPr>
          <p:cNvPr id="4" name="Picture 3" descr="crop_flight_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794760" cy="2331720"/>
          </a:xfrm>
          <a:prstGeom prst="rect">
            <a:avLst/>
          </a:prstGeom>
        </p:spPr>
      </p:pic>
      <p:pic>
        <p:nvPicPr>
          <p:cNvPr id="5" name="Picture 4" descr="crop_flight_ORD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60120"/>
            <a:ext cx="3794760" cy="2331720"/>
          </a:xfrm>
          <a:prstGeom prst="rect">
            <a:avLst/>
          </a:prstGeom>
        </p:spPr>
      </p:pic>
      <p:pic>
        <p:nvPicPr>
          <p:cNvPr id="6" name="Picture 5" descr="crop_hotel_chicago_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60120"/>
            <a:ext cx="37947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520440"/>
            <a:ext cx="11338560" cy="1005840"/>
          </a:xfrm>
          <a:prstGeom prst="rect">
            <a:avLst/>
          </a:prstGeom>
          <a:solidFill>
            <a:srgbClr val="E9EFF7"/>
          </a:solidFill>
        </p:spPr>
        <p:txBody>
          <a:bodyPr wrap="square" lIns="73152" rIns="73152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预算采用机票 $271.00/人往返；酒店 Embassy Suites by Hilton Chicago O'Hare Rosemont $126.00/房夜起。酒店页默认2旅客/1房并标示免费早餐；仅作为每房起价代理，不能证明单人价格或24间房量。最终房型、单人入住、税费和团体房量须书面确认。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617720"/>
            <a:ext cx="1133856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0">
                <a:solidFill>
                  <a:srgbClr val="595959"/>
                </a:solidFill>
              </a:defRPr>
            </a:pPr>
            <a:r>
              <a:t>航班来源：https://www.google.com/travel/flights?hl=en&amp;curr=USD</a:t>
            </a:r>
            <a:br/>
            <a:r>
              <a:t>酒店来源：https://www.google.com/travel/search?hl=en&amp;gl=us&amp;curr=USD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349240"/>
            <a:ext cx="113385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000" b="0">
                <a:solidFill>
                  <a:srgbClr val="595959"/>
                </a:solidFill>
              </a:defRPr>
            </a:pPr>
            <a:r>
              <a:t>查询：2026-10-23 14:00 UTC。Google Flights称价格含1名成人必需税费，行李等可另收费；Google Hotels截图为默认2旅客/1房的动态起价，预算将其作为每房代理，单人入住和团体房量待书面确认。截图为真实页面，未表示已预订或有余票/房量。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Denver｜航班与住宿网页证据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DCA–DEN · 2026-11-28出发 / 2026-12-02返程 · 1名成人 · USD</a:t>
            </a:r>
          </a:p>
        </p:txBody>
      </p:sp>
      <p:pic>
        <p:nvPicPr>
          <p:cNvPr id="4" name="Picture 3" descr="crop_flight_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794760" cy="2331720"/>
          </a:xfrm>
          <a:prstGeom prst="rect">
            <a:avLst/>
          </a:prstGeom>
        </p:spPr>
      </p:pic>
      <p:pic>
        <p:nvPicPr>
          <p:cNvPr id="5" name="Picture 4" descr="crop_flight_DEN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60120"/>
            <a:ext cx="3794760" cy="2331720"/>
          </a:xfrm>
          <a:prstGeom prst="rect">
            <a:avLst/>
          </a:prstGeom>
        </p:spPr>
      </p:pic>
      <p:pic>
        <p:nvPicPr>
          <p:cNvPr id="6" name="Picture 5" descr="crop_hotel_denver_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60120"/>
            <a:ext cx="37947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520440"/>
            <a:ext cx="11338560" cy="1005840"/>
          </a:xfrm>
          <a:prstGeom prst="rect">
            <a:avLst/>
          </a:prstGeom>
          <a:solidFill>
            <a:srgbClr val="E9EFF7"/>
          </a:solidFill>
        </p:spPr>
        <p:txBody>
          <a:bodyPr wrap="square" lIns="73152" rIns="73152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预算采用机票 $466.00/人往返；酒店 Holiday Inn Express Denver Downtown by IHG $75.00/房夜起。酒店页默认2旅客/1房并标示免费早餐；仅作为每房起价代理，不能证明单人价格或24间房量。最终房型、单人入住、税费和团体房量须书面确认。采用$466同航司直飞组合；$437最低返程为分票且中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617720"/>
            <a:ext cx="1133856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0">
                <a:solidFill>
                  <a:srgbClr val="595959"/>
                </a:solidFill>
              </a:defRPr>
            </a:pPr>
            <a:r>
              <a:t>航班来源：https://www.google.com/travel/flights?hl=en&amp;curr=USD</a:t>
            </a:r>
            <a:br/>
            <a:r>
              <a:t>酒店来源：https://www.google.com/travel/search?hl=en&amp;gl=us&amp;curr=USD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349240"/>
            <a:ext cx="113385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000" b="0">
                <a:solidFill>
                  <a:srgbClr val="595959"/>
                </a:solidFill>
              </a:defRPr>
            </a:pPr>
            <a:r>
              <a:t>查询：2026-10-23 14:00 UTC。Google Flights称价格含1名成人必需税费，行李等可另收费；Google Hotels截图为默认2旅客/1房的动态起价，预算将其作为每房代理，单人入住和团体房量待书面确认。截图为真实页面，未表示已预订或有余票/房量。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Phoenix｜航班与住宿网页证据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DCA–PHX · 2026-11-28出发 / 2026-12-02返程 · 1名成人 · USD</a:t>
            </a:r>
          </a:p>
        </p:txBody>
      </p:sp>
      <p:pic>
        <p:nvPicPr>
          <p:cNvPr id="4" name="Picture 3" descr="crop_flight_PH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794760" cy="2331720"/>
          </a:xfrm>
          <a:prstGeom prst="rect">
            <a:avLst/>
          </a:prstGeom>
        </p:spPr>
      </p:pic>
      <p:pic>
        <p:nvPicPr>
          <p:cNvPr id="5" name="Picture 4" descr="crop_flight_PHX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60120"/>
            <a:ext cx="3794760" cy="2331720"/>
          </a:xfrm>
          <a:prstGeom prst="rect">
            <a:avLst/>
          </a:prstGeom>
        </p:spPr>
      </p:pic>
      <p:pic>
        <p:nvPicPr>
          <p:cNvPr id="6" name="Picture 5" descr="crop_hotel_phoenix_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60120"/>
            <a:ext cx="37947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520440"/>
            <a:ext cx="11338560" cy="1005840"/>
          </a:xfrm>
          <a:prstGeom prst="rect">
            <a:avLst/>
          </a:prstGeom>
          <a:solidFill>
            <a:srgbClr val="E9EFF7"/>
          </a:solidFill>
        </p:spPr>
        <p:txBody>
          <a:bodyPr wrap="square" lIns="73152" rIns="73152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预算采用机票 $581.00/人往返；酒店 SureStay InnSuites Phoenix Hotel &amp; Suites by Best Western $93.00/房夜起。酒店页默认2旅客/1房并标示免费早餐；仅作为每房起价代理，不能证明单人价格或24间房量。最终房型、单人入住、税费和团体房量须书面确认。$546组合返程中转10小时34分；采用$581直飞返程。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617720"/>
            <a:ext cx="1133856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0">
                <a:solidFill>
                  <a:srgbClr val="595959"/>
                </a:solidFill>
              </a:defRPr>
            </a:pPr>
            <a:r>
              <a:t>航班来源：https://www.google.com/travel/flights?hl=en&amp;curr=USD</a:t>
            </a:r>
            <a:br/>
            <a:r>
              <a:t>酒店来源：https://www.google.com/travel/search?hl=en&amp;gl=us&amp;curr=USD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349240"/>
            <a:ext cx="113385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000" b="0">
                <a:solidFill>
                  <a:srgbClr val="595959"/>
                </a:solidFill>
              </a:defRPr>
            </a:pPr>
            <a:r>
              <a:t>查询：2026-10-23 14:00 UTC。Google Flights称价格含1名成人必需税费，行李等可另收费；Google Hotels截图为默认2旅客/1房的动态起价，预算将其作为每房代理，单人入住和团体房量待书面确认。截图为真实页面，未表示已预订或有余票/房量。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Boston｜航班与住宿网页证据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DCA–BOS · 2026-11-28出发 / 2026-12-02返程 · 1名成人 · USD</a:t>
            </a:r>
          </a:p>
        </p:txBody>
      </p:sp>
      <p:pic>
        <p:nvPicPr>
          <p:cNvPr id="4" name="Picture 3" descr="crop_flight_B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794760" cy="2331720"/>
          </a:xfrm>
          <a:prstGeom prst="rect">
            <a:avLst/>
          </a:prstGeom>
        </p:spPr>
      </p:pic>
      <p:pic>
        <p:nvPicPr>
          <p:cNvPr id="5" name="Picture 4" descr="crop_flight_BOS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60120"/>
            <a:ext cx="3794760" cy="2331720"/>
          </a:xfrm>
          <a:prstGeom prst="rect">
            <a:avLst/>
          </a:prstGeom>
        </p:spPr>
      </p:pic>
      <p:pic>
        <p:nvPicPr>
          <p:cNvPr id="6" name="Picture 5" descr="crop_hotel_boston_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60120"/>
            <a:ext cx="37947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520440"/>
            <a:ext cx="11338560" cy="1005840"/>
          </a:xfrm>
          <a:prstGeom prst="rect">
            <a:avLst/>
          </a:prstGeom>
          <a:solidFill>
            <a:srgbClr val="E9EFF7"/>
          </a:solidFill>
        </p:spPr>
        <p:txBody>
          <a:bodyPr wrap="square" lIns="73152" rIns="73152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预算采用机票 $330.00/人往返；酒店 Hyatt Place Boston / Seaport District $202.00/房夜起。酒店页默认2旅客/1房并标示免费早餐；仅作为每房起价代理，不能证明单人价格或24间房量。最终房型、单人入住、税费和团体房量须书面确认。采用$330同航司组合；$322返程结果标为separate tickets。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617720"/>
            <a:ext cx="1133856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0">
                <a:solidFill>
                  <a:srgbClr val="595959"/>
                </a:solidFill>
              </a:defRPr>
            </a:pPr>
            <a:r>
              <a:t>航班来源：https://www.google.com/travel/flights?hl=en&amp;curr=USD</a:t>
            </a:r>
            <a:br/>
            <a:r>
              <a:t>酒店来源：https://www.google.com/travel/search?hl=en&amp;gl=us&amp;curr=USD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349240"/>
            <a:ext cx="113385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000" b="0">
                <a:solidFill>
                  <a:srgbClr val="595959"/>
                </a:solidFill>
              </a:defRPr>
            </a:pPr>
            <a:r>
              <a:t>查询：2026-10-23 14:00 UTC。Google Flights称价格含1名成人必需税费，行李等可另收费；Google Hotels截图为默认2旅客/1房的动态起价，预算将其作为每房代理，单人入住和团体房量待书面确认。截图为真实页面，未表示已预订或有余票/房量。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Seattle｜航班与住宿网页证据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DCA–SEA · 2026-11-28出发 / 2026-12-02返程 · 1名成人 · USD</a:t>
            </a:r>
          </a:p>
        </p:txBody>
      </p:sp>
      <p:pic>
        <p:nvPicPr>
          <p:cNvPr id="4" name="Picture 3" descr="crop_flight_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794760" cy="2331720"/>
          </a:xfrm>
          <a:prstGeom prst="rect">
            <a:avLst/>
          </a:prstGeom>
        </p:spPr>
      </p:pic>
      <p:pic>
        <p:nvPicPr>
          <p:cNvPr id="5" name="Picture 4" descr="crop_flight_SEA_re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60120"/>
            <a:ext cx="3794760" cy="2331720"/>
          </a:xfrm>
          <a:prstGeom prst="rect">
            <a:avLst/>
          </a:prstGeom>
        </p:spPr>
      </p:pic>
      <p:pic>
        <p:nvPicPr>
          <p:cNvPr id="6" name="Picture 5" descr="crop_hotel_seattle_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60120"/>
            <a:ext cx="37947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520440"/>
            <a:ext cx="11338560" cy="1005840"/>
          </a:xfrm>
          <a:prstGeom prst="rect">
            <a:avLst/>
          </a:prstGeom>
          <a:solidFill>
            <a:srgbClr val="E9EFF7"/>
          </a:solidFill>
        </p:spPr>
        <p:txBody>
          <a:bodyPr wrap="square" lIns="73152" rIns="73152">
            <a:spAutoFit/>
          </a:bodyPr>
          <a:lstStyle/>
          <a:p>
            <a:pPr>
              <a:defRPr sz="1300" b="0">
                <a:solidFill>
                  <a:srgbClr val="595959"/>
                </a:solidFill>
              </a:defRPr>
            </a:pPr>
            <a:r>
              <a:t>预算采用机票 $977.00/人往返；酒店 Hyatt House Seattle/Downtown $170.00/房夜起。酒店页默认2旅客/1房并标示免费早餐；仅作为每房起价代理，不能证明单人价格或24间房量。最终房型、单人入住、税费和团体房量须书面确认。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617720"/>
            <a:ext cx="1133856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0">
                <a:solidFill>
                  <a:srgbClr val="595959"/>
                </a:solidFill>
              </a:defRPr>
            </a:pPr>
            <a:r>
              <a:t>航班来源：https://www.google.com/travel/flights?hl=en&amp;curr=USD</a:t>
            </a:r>
            <a:br/>
            <a:r>
              <a:t>酒店来源：https://www.google.com/travel/search?hl=en&amp;gl=us&amp;curr=USD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349240"/>
            <a:ext cx="11338560" cy="777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000" b="0">
                <a:solidFill>
                  <a:srgbClr val="595959"/>
                </a:solidFill>
              </a:defRPr>
            </a:pPr>
            <a:r>
              <a:t>查询：2026-10-23 14:00 UTC。Google Flights称价格含1名成人必需税费，行李等可另收费；Google Hotels截图为默认2旅客/1房的动态起价，预算将其作为每房代理，单人入住和团体房量待书面确认。截图为真实页面，未表示已预订或有余票/房量。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合规依据与批准闸门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来源可在工作簿 Sources 逐项追溯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5394960" cy="5074920"/>
          </a:xfrm>
          <a:prstGeom prst="rect">
            <a:avLst/>
          </a:prstGeom>
          <a:solidFill>
            <a:srgbClr val="E9EFF7"/>
          </a:solidFill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7365D"/>
                </a:solidFill>
              </a:defRPr>
            </a:pPr>
            <a:r>
              <a:t>FTR / GSA</a:t>
            </a:r>
            <a:br/>
            <a:br/>
            <a:r>
              <a:t>• §301-11.101：首末日75% M&amp;IE</a:t>
            </a:r>
            <a:br/>
            <a:r>
              <a:t>• §301-11.17：免费酒店早餐不扣M&amp;IE</a:t>
            </a:r>
            <a:br/>
            <a:r>
              <a:t>• §301-11.18：政府/注册餐扣减</a:t>
            </a:r>
            <a:br/>
            <a:r>
              <a:t>• §301-11.27：住宿税限可报销住宿对应税</a:t>
            </a:r>
            <a:br/>
            <a:r>
              <a:t>• §301-74.1/.3/.4/.5：降本、比较、书面理由</a:t>
            </a:r>
            <a:br/>
            <a:r>
              <a:t>• §301-74.7/.21：可供茶歇且不扣M&amp;IE</a:t>
            </a:r>
            <a:br/>
            <a:r>
              <a:t>• FY2027按县/季节住宿与M&amp;IE上限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43000"/>
            <a:ext cx="5394960" cy="5074920"/>
          </a:xfrm>
          <a:prstGeom prst="rect">
            <a:avLst/>
          </a:prstGeom>
          <a:solidFill>
            <a:srgbClr val="FCE4D6"/>
          </a:solidFill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C00000"/>
                </a:solidFill>
              </a:defRPr>
            </a:pPr>
            <a:r>
              <a:t>阻断最终批准</a:t>
            </a:r>
            <a:br/>
            <a:br/>
            <a:r>
              <a:t>• 场地、AV、茶歇、机构餐完整报价</a:t>
            </a:r>
            <a:br/>
            <a:r>
              <a:t>• 24间单房/早餐/税费/取消条款</a:t>
            </a:r>
            <a:br/>
            <a:r>
              <a:t>• 供应商资质与采购路径</a:t>
            </a:r>
            <a:br/>
            <a:r>
              <a:t>• 资金、财务编码和有权审批</a:t>
            </a:r>
            <a:br/>
            <a:r>
              <a:t>• 培训目的、名单、人数/替代方式理由</a:t>
            </a:r>
            <a:br/>
            <a:r>
              <a:t>• RD Instruction 2036-A正式副本逐条核验</a:t>
            </a:r>
            <a:br/>
            <a:br/>
            <a:r>
              <a:t>官网在本查询环境返回Access Denied；不编造条款。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