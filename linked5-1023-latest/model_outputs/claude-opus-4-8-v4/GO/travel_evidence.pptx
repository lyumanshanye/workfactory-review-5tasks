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i="0">
                <a:solidFill>
                  <a:srgbClr val="FFFFFF"/>
                </a:solidFill>
              </a:rPr>
              <a:t>Travel Evidence Pack</a:t>
            </a:r>
          </a:p>
          <a:p>
            <a:r>
              <a:rPr sz="2000" b="0" i="0">
                <a:solidFill>
                  <a:srgbClr val="D6E4F0"/>
                </a:solidFill>
              </a:rPr>
              <a:t>USDA Rural Development — Centralized Training Site Analysis</a:t>
            </a:r>
          </a:p>
          <a:p>
            <a:r>
              <a:rPr sz="1600" b="0" i="0">
                <a:solidFill>
                  <a:srgbClr val="FFFFFF"/>
                </a:solidFill>
              </a:rPr>
              <a:t>Real captured quotes: flights (ITA Matrix) &amp; hotels (us.trip.com)</a:t>
            </a:r>
          </a:p>
          <a:p>
            <a:r>
              <a:rPr sz="1400" b="0" i="0">
                <a:solidFill>
                  <a:srgbClr val="D6E4F0"/>
                </a:solidFill>
              </a:rPr>
              <a:t>Training dates Nov 29 – Dec 1, 2026  |  Trip Nov 28 – Dec 2 (4 nights)  |  24 attendees</a:t>
            </a:r>
          </a:p>
          <a:p>
            <a:r>
              <a:rPr sz="1200" b="0" i="1">
                <a:solidFill>
                  <a:srgbClr val="BDD7EE"/>
                </a:solidFill>
              </a:rPr>
              <a:t>All quotes queried 2026-10-24 (UTC), in USD. Links to conference_budget.xlsx (Options/Sources).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How these screenshots were captured</a:t>
            </a:r>
          </a:p>
          <a:p>
            <a:r>
              <a:rPr sz="1100">
                <a:solidFill>
                  <a:srgbClr val="D6E4F0"/>
                </a:solidFill>
              </a:rPr>
              <a:t>Provenance &amp; limitations — read before relying on figures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</a:rPr>
              <a:t>• Flights — ITA Matrix (matrix.itasoftware.com): round trip DCA↔destination, depart 2026-11-28, return 2026-12-02, 1 adult. Fares are total incl. taxes/carrier fees per ticket; cheapest may be Basic Economy.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</a:rPr>
              <a:t>• Hotels — us.trip.com: destination city list, check-in 2026-11-28 / check-out 2026-12-02 (4 nights), 1 room / 1 adult, currency USD. Nightly figure excludes taxes &amp; fees; 'Total price' includes them.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</a:rPr>
              <a:t>• Screening standard applied to hotels: guest rating ≥ 8.0/10, ≥ 50 reviews, breakfast included or separately budgeted, and nightly rate at/below the FY2027 GSA lodging cap on every night.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C00000"/>
                </a:solidFill>
              </a:rPr>
              <a:t>• These are single-seat / single-room PUBLIC quotes captured on one date. They are NOT bookings, NOT held inventory, and NOT group rates. Group airfare inventory and a 24-room block at the quoted rate remain TO VERIFY (see approval_register.csv R-02, R-03).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</a:rPr>
              <a:t>• No price table in this deck is self-made: every figure shown is inside an actual platform screenshot. Derived event totals live in conference_budget.xlsx (Options sheet) and are reconciled there, not fabricated here.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</a:rPr>
              <a:t>• Other travel sites (Kayak, Booking.com, Marriott/IHG, Google Hotels) blocked automation or forced non-USD currency from this network, so ITA Matrix + trip.com were used as the consistent USD 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Boston, MA — RECOMMENDED</a:t>
            </a:r>
          </a:p>
          <a:p>
            <a:r>
              <a:rPr sz="1100">
                <a:solidFill>
                  <a:srgbClr val="D6E4F0"/>
                </a:solidFill>
              </a:rPr>
              <a:t>Flights &amp; hotel evidence · queried 2026-10-24 · USD  ·  RECOMMENDED 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760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F4E78"/>
                </a:solidFill>
              </a:rPr>
              <a:t>Flight — ITA Matrix</a:t>
            </a:r>
          </a:p>
          <a:p>
            <a:r>
              <a:rPr sz="1050" b="0" i="0">
                <a:solidFill>
                  <a:srgbClr val="555555"/>
                </a:solidFill>
              </a:rPr>
              <a:t>DCA⇄BOS · American/JetBlue nonstop · ~$358 RT</a:t>
            </a:r>
          </a:p>
        </p:txBody>
      </p:sp>
      <p:pic>
        <p:nvPicPr>
          <p:cNvPr id="4" name="Picture 3" descr="ita_BOS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467" y="1554480"/>
            <a:ext cx="3448426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914400"/>
            <a:ext cx="5577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F4E78"/>
                </a:solidFill>
              </a:rPr>
              <a:t>Hotel — us.trip.com</a:t>
            </a:r>
          </a:p>
          <a:p>
            <a:r>
              <a:rPr sz="1050" b="0" i="0">
                <a:solidFill>
                  <a:srgbClr val="555555"/>
                </a:solidFill>
              </a:rPr>
              <a:t>DoubleTree by Hilton Boston Bayside · ~$108/night · 8.6/10 (449 reviews) · breakfast incl. · free airport shuttle</a:t>
            </a:r>
          </a:p>
        </p:txBody>
      </p:sp>
      <p:pic>
        <p:nvPicPr>
          <p:cNvPr id="6" name="Picture 5" descr="trip_BOS_result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631" y="1554480"/>
            <a:ext cx="3795297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35508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555555"/>
                </a:solidFill>
              </a:rPr>
              <a:t>Sources: matrix.itasoftware.com (DCA↔BOS, RT 11/28–12/2, 1 adult)  |  us.trip.com/hotels/list?cityId=26848 (11/28–12/2, 1 room, USD)  ·  queried 2026-10-24  ·  figures feed conference_budget.xlsx → Options/Sources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Chicago, IL — nearest alternative</a:t>
            </a:r>
          </a:p>
          <a:p>
            <a:r>
              <a:rPr sz="1100">
                <a:solidFill>
                  <a:srgbClr val="D6E4F0"/>
                </a:solidFill>
              </a:rPr>
              <a:t>Flights &amp; hotel evidence · queried 2026-10-24 · USD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760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F4E78"/>
                </a:solidFill>
              </a:rPr>
              <a:t>Flight — ITA Matrix</a:t>
            </a:r>
          </a:p>
          <a:p>
            <a:r>
              <a:rPr sz="1050" b="0" i="0">
                <a:solidFill>
                  <a:srgbClr val="555555"/>
                </a:solidFill>
              </a:rPr>
              <a:t>DCA⇄ORD · American nonstop · ~$270 RT</a:t>
            </a:r>
          </a:p>
        </p:txBody>
      </p:sp>
      <p:pic>
        <p:nvPicPr>
          <p:cNvPr id="4" name="Picture 3" descr="ita_OR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467" y="1554480"/>
            <a:ext cx="3448426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914400"/>
            <a:ext cx="5577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F4E78"/>
                </a:solidFill>
              </a:rPr>
              <a:t>Hotel — us.trip.com</a:t>
            </a:r>
          </a:p>
          <a:p>
            <a:r>
              <a:rPr sz="1050" b="0" i="0">
                <a:solidFill>
                  <a:srgbClr val="555555"/>
                </a:solidFill>
              </a:rPr>
              <a:t>Warwick Allerton (and alt) · ~$145/night · 8.6/10 (399 reviews)</a:t>
            </a:r>
          </a:p>
        </p:txBody>
      </p:sp>
      <p:pic>
        <p:nvPicPr>
          <p:cNvPr id="6" name="Picture 5" descr="trip_ORD_result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631" y="1554480"/>
            <a:ext cx="3795297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35508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555555"/>
                </a:solidFill>
              </a:rPr>
              <a:t>Sources: matrix.itasoftware.com (DCA↔ORD, RT 11/28–12/2, 1 adult)  |  us.trip.com/hotels/list?cityId=549 (11/28–12/2, 1 room, USD)  ·  queried 2026-10-24  ·  figures feed conference_budget.xlsx → Options/Sources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Denver, CO</a:t>
            </a:r>
          </a:p>
          <a:p>
            <a:r>
              <a:rPr sz="1100">
                <a:solidFill>
                  <a:srgbClr val="D6E4F0"/>
                </a:solidFill>
              </a:rPr>
              <a:t>Flights &amp; hotel evidence · queried 2026-10-24 · USD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760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F4E78"/>
                </a:solidFill>
              </a:rPr>
              <a:t>Flight — ITA Matrix</a:t>
            </a:r>
          </a:p>
          <a:p>
            <a:r>
              <a:rPr sz="1050" b="0" i="0">
                <a:solidFill>
                  <a:srgbClr val="555555"/>
                </a:solidFill>
              </a:rPr>
              <a:t>DCA⇄DEN · Frontier ~$741 / United ~$940 RT</a:t>
            </a:r>
          </a:p>
        </p:txBody>
      </p:sp>
      <p:pic>
        <p:nvPicPr>
          <p:cNvPr id="4" name="Picture 3" descr="ita_DE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124" y="1554480"/>
            <a:ext cx="3543111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914400"/>
            <a:ext cx="5577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F4E78"/>
                </a:solidFill>
              </a:rPr>
              <a:t>Hotel — us.trip.com</a:t>
            </a:r>
          </a:p>
          <a:p>
            <a:r>
              <a:rPr sz="1050" b="0" i="0">
                <a:solidFill>
                  <a:srgbClr val="555555"/>
                </a:solidFill>
              </a:rPr>
              <a:t>Home2 Suites by Hilton Denver Downtown · ~$109/night · 9.0/10 (94 reviews) · breakfast incl.</a:t>
            </a:r>
          </a:p>
        </p:txBody>
      </p:sp>
      <p:pic>
        <p:nvPicPr>
          <p:cNvPr id="6" name="Picture 5" descr="trip_DEN_result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631" y="1554480"/>
            <a:ext cx="3795297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35508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555555"/>
                </a:solidFill>
              </a:rPr>
              <a:t>Sources: matrix.itasoftware.com (DCA↔DEN, RT 11/28–12/2, 1 adult)  |  us.trip.com/hotels/list?cityId=20099 (11/28–12/2, 1 room, USD)  ·  queried 2026-10-24  ·  figures feed conference_budget.xlsx → Options/Sources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Phoenix, AZ</a:t>
            </a:r>
          </a:p>
          <a:p>
            <a:r>
              <a:rPr sz="1100">
                <a:solidFill>
                  <a:srgbClr val="D6E4F0"/>
                </a:solidFill>
              </a:rPr>
              <a:t>Flights &amp; hotel evidence · queried 2026-10-24 · USD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760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F4E78"/>
                </a:solidFill>
              </a:rPr>
              <a:t>Flight — ITA Matrix</a:t>
            </a:r>
          </a:p>
          <a:p>
            <a:r>
              <a:rPr sz="1050" b="0" i="0">
                <a:solidFill>
                  <a:srgbClr val="555555"/>
                </a:solidFill>
              </a:rPr>
              <a:t>DCA⇄PHX · American nonstop · ~$581 RT</a:t>
            </a:r>
          </a:p>
        </p:txBody>
      </p:sp>
      <p:pic>
        <p:nvPicPr>
          <p:cNvPr id="4" name="Picture 3" descr="ita_PHX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594" y="1554480"/>
            <a:ext cx="3362171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914400"/>
            <a:ext cx="5577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F4E78"/>
                </a:solidFill>
              </a:rPr>
              <a:t>Hotel — us.trip.com</a:t>
            </a:r>
          </a:p>
          <a:p>
            <a:r>
              <a:rPr sz="1050" b="0" i="0">
                <a:solidFill>
                  <a:srgbClr val="555555"/>
                </a:solidFill>
              </a:rPr>
              <a:t>Hampton Inn &amp; Suites · ~$150/night · 9.4/10 (116 reviews) · breakfast incl.</a:t>
            </a:r>
          </a:p>
        </p:txBody>
      </p:sp>
      <p:pic>
        <p:nvPicPr>
          <p:cNvPr id="6" name="Picture 5" descr="trip_PHX_result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631" y="1554480"/>
            <a:ext cx="3795297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35508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555555"/>
                </a:solidFill>
              </a:rPr>
              <a:t>Sources: matrix.itasoftware.com (DCA↔PHX, RT 11/28–12/2, 1 adult)  |  us.trip.com/hotels/list?cityId=25938 (11/28–12/2, 1 room, USD)  ·  queried 2026-10-24  ·  figures feed conference_budget.xlsx → Options/Sources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Seattle, WA</a:t>
            </a:r>
          </a:p>
          <a:p>
            <a:r>
              <a:rPr sz="1100">
                <a:solidFill>
                  <a:srgbClr val="D6E4F0"/>
                </a:solidFill>
              </a:rPr>
              <a:t>Flights &amp; hotel evidence · queried 2026-10-24 · USD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760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F4E78"/>
                </a:solidFill>
              </a:rPr>
              <a:t>Flight — ITA Matrix</a:t>
            </a:r>
          </a:p>
          <a:p>
            <a:r>
              <a:rPr sz="1050" b="0" i="0">
                <a:solidFill>
                  <a:srgbClr val="555555"/>
                </a:solidFill>
              </a:rPr>
              <a:t>DCA⇄SEA · nonstop ~$977 / 1-stop ~$982 RT</a:t>
            </a:r>
          </a:p>
        </p:txBody>
      </p:sp>
      <p:pic>
        <p:nvPicPr>
          <p:cNvPr id="4" name="Picture 3" descr="ita_SEA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594" y="1554480"/>
            <a:ext cx="3362171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914400"/>
            <a:ext cx="5577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F4E78"/>
                </a:solidFill>
              </a:rPr>
              <a:t>Hotel — us.trip.com</a:t>
            </a:r>
          </a:p>
          <a:p>
            <a:r>
              <a:rPr sz="1050" b="0" i="0">
                <a:solidFill>
                  <a:srgbClr val="555555"/>
                </a:solidFill>
              </a:rPr>
              <a:t>Belltown (breakfast-incl.) · ~$103/night · 8.6/10 (114 reviews) · breakfast incl.</a:t>
            </a:r>
          </a:p>
        </p:txBody>
      </p:sp>
      <p:pic>
        <p:nvPicPr>
          <p:cNvPr id="6" name="Picture 5" descr="trip_SEA_result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631" y="1554480"/>
            <a:ext cx="3795297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35508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1">
                <a:solidFill>
                  <a:srgbClr val="555555"/>
                </a:solidFill>
              </a:rPr>
              <a:t>Sources: matrix.itasoftware.com (DCA↔SEA, RT 11/28–12/2, 1 adult)  |  us.trip.com/hotels/list?cityId=511 (11/28–12/2, 1 room, USD)  ·  queried 2026-10-24  ·  figures feed conference_budget.xlsx → Options/Sources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From screenshots to the budget</a:t>
            </a:r>
          </a:p>
          <a:p>
            <a:r>
              <a:rPr sz="1100">
                <a:solidFill>
                  <a:srgbClr val="D6E4F0"/>
                </a:solidFill>
              </a:rPr>
              <a:t>How these real quotes map into conference_budget.xlsx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</a:rPr>
              <a:t>• Each airfare above is entered once per city in the workbook's CityData sheet; the Options sheet multiplies by headcount (24/18) and applies the airfare factor (base ×1.0 and +20% stress).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</a:rPr>
              <a:t>• Each hotel nightly rate is multiplied by 4 nights and an internal 12% lodging-tax estimate (a planning placeholder — NOT the statutory Suffolk County rate; replace at booking, Register R-10).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</a:rPr>
              <a:t>• Registration $180/person (incl. 3 working lunches), agency-provided meals (Nov 28 dinner, Dec 1 dinner, Dec 2 lunch), light refreshments, and ground transport are added in Daily/Options.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</a:rPr>
              <a:t>• Recommended: Boston, 24 attendees — grand total $34,242.77 (base $32,612.16 + 5% reserve $1,630.61), ~$18,757 under the $53,000 ceiling.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</a:rPr>
              <a:t>• Decision rule: fit ceiling → maximize attendees → lowest total-with-reserve → alphabetical. Boston wins on breakfast-included $108 hotel + free shuttle despite higher airfare than Chicago.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22222"/>
                </a:solidFill>
              </a:rPr>
              <a:t>• Still TO VERIFY before approval (not fabricated here): group air inventory, 24-room block at quoted rate, venue address/capacity/quote, FEMA fire-safe hotel status, funds availability, roster justification. See approval_register.csv.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